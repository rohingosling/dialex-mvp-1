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d8ad9d77134b50" /><Relationship Type="http://schemas.openxmlformats.org/officeDocument/2006/relationships/extended-properties" Target="/docProps/app.xml" Id="Rf16fbd12b3684840" /><Relationship Type="http://schemas.openxmlformats.org/officeDocument/2006/relationships/officeDocument" Target="/ppt/presentation.xml" Id="Rdefca7400ccd45b5" /></Relationships>
</file>

<file path=ppt/presentation.xml><?xml version="1.0" encoding="utf-8"?>
<p:presentation xmlns:p="http://schemas.openxmlformats.org/presentationml/2006/main">
  <p:sldMasterIdLst>
    <p:sldMasterId xmlns:r="http://schemas.openxmlformats.org/officeDocument/2006/relationships" id="2147483648" r:id="R15a903a8cc0549d1"/>
  </p:sldMasterIdLst>
  <p:notesMasterIdLst>
    <p:notesMasterId xmlns:r="http://schemas.openxmlformats.org/officeDocument/2006/relationships" r:id="Rf4adc5cec1604461"/>
  </p:notesMasterIdLst>
  <p:sldIdLst>
    <p:sldId xmlns:r="http://schemas.openxmlformats.org/officeDocument/2006/relationships" id="256" r:id="R284dce67215643a4"/>
    <p:sldId xmlns:r="http://schemas.openxmlformats.org/officeDocument/2006/relationships" id="257" r:id="Ra7355212d9634d5d"/>
    <p:sldId xmlns:r="http://schemas.openxmlformats.org/officeDocument/2006/relationships" id="258" r:id="R5bff78b613b54e18"/>
    <p:sldId xmlns:r="http://schemas.openxmlformats.org/officeDocument/2006/relationships" id="259" r:id="R1958994c09304dc4"/>
    <p:sldId xmlns:r="http://schemas.openxmlformats.org/officeDocument/2006/relationships" id="260" r:id="R15b0503f532c4f98"/>
    <p:sldId xmlns:r="http://schemas.openxmlformats.org/officeDocument/2006/relationships" id="261" r:id="R702e58e0826549a5"/>
    <p:sldId xmlns:r="http://schemas.openxmlformats.org/officeDocument/2006/relationships" id="262" r:id="R13897c24b01d439a"/>
    <p:sldId xmlns:r="http://schemas.openxmlformats.org/officeDocument/2006/relationships" id="263" r:id="R7b0734ee04974f8c"/>
    <p:sldId xmlns:r="http://schemas.openxmlformats.org/officeDocument/2006/relationships" id="264" r:id="R0a95450eb5054904"/>
    <p:sldId xmlns:r="http://schemas.openxmlformats.org/officeDocument/2006/relationships" id="265" r:id="R551a04f755074808"/>
    <p:sldId xmlns:r="http://schemas.openxmlformats.org/officeDocument/2006/relationships" id="266" r:id="Rd26ff890a05148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534aa9a355a40a4" /><Relationship Type="http://schemas.openxmlformats.org/officeDocument/2006/relationships/slideMaster" Target="/ppt/slideMasters/slideMaster1.xml" Id="R15a903a8cc0549d1" /><Relationship Type="http://schemas.openxmlformats.org/officeDocument/2006/relationships/notesMaster" Target="/ppt/notesMasters/notesMaster1.xml" Id="Rf4adc5cec1604461" /><Relationship Type="http://schemas.openxmlformats.org/officeDocument/2006/relationships/presProps" Target="/ppt/presProps.xml" Id="R3cc78e72996e4a93" /><Relationship Type="http://schemas.openxmlformats.org/officeDocument/2006/relationships/viewProps" Target="/ppt/viewProps.xml" Id="R9e8dabbd60bd4919" /><Relationship Type="http://schemas.openxmlformats.org/officeDocument/2006/relationships/tableStyles" Target="/ppt/tableStyles.xml" Id="R06b6ef9be694406a" /><Relationship Type="http://schemas.openxmlformats.org/officeDocument/2006/relationships/slide" Target="/ppt/slides/slide1.xml" Id="R284dce67215643a4" /><Relationship Type="http://schemas.openxmlformats.org/officeDocument/2006/relationships/slide" Target="/ppt/slides/slide2.xml" Id="Ra7355212d9634d5d" /><Relationship Type="http://schemas.openxmlformats.org/officeDocument/2006/relationships/slide" Target="/ppt/slides/slide3.xml" Id="R5bff78b613b54e18" /><Relationship Type="http://schemas.openxmlformats.org/officeDocument/2006/relationships/slide" Target="/ppt/slides/slide4.xml" Id="R1958994c09304dc4" /><Relationship Type="http://schemas.openxmlformats.org/officeDocument/2006/relationships/slide" Target="/ppt/slides/slide5.xml" Id="R15b0503f532c4f98" /><Relationship Type="http://schemas.openxmlformats.org/officeDocument/2006/relationships/slide" Target="/ppt/slides/slide6.xml" Id="R702e58e0826549a5" /><Relationship Type="http://schemas.openxmlformats.org/officeDocument/2006/relationships/slide" Target="/ppt/slides/slide7.xml" Id="R13897c24b01d439a" /><Relationship Type="http://schemas.openxmlformats.org/officeDocument/2006/relationships/slide" Target="/ppt/slides/slide8.xml" Id="R7b0734ee04974f8c" /><Relationship Type="http://schemas.openxmlformats.org/officeDocument/2006/relationships/slide" Target="/ppt/slides/slide9.xml" Id="R0a95450eb5054904" /><Relationship Type="http://schemas.openxmlformats.org/officeDocument/2006/relationships/slide" Target="/ppt/slides/slide10.xml" Id="R551a04f755074808" /><Relationship Type="http://schemas.openxmlformats.org/officeDocument/2006/relationships/slide" Target="/ppt/slides/slide11.xml" Id="Rd26ff890a05148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896839cb494e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2d72a456a04f8c" /><Relationship Type="http://schemas.openxmlformats.org/officeDocument/2006/relationships/notesMaster" Target="/ppt/notesMasters/notesMaster1.xml" Id="R7093ca0c51ec48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ed8bc9c0ff4941" /><Relationship Type="http://schemas.openxmlformats.org/officeDocument/2006/relationships/notesMaster" Target="/ppt/notesMasters/notesMaster1.xml" Id="R5a3ea962ccf445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9bc1e5ce4d4fc0" /><Relationship Type="http://schemas.openxmlformats.org/officeDocument/2006/relationships/notesMaster" Target="/ppt/notesMasters/notesMaster1.xml" Id="Ra9f0a2d0c97f43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3f3aa711d44e47" /><Relationship Type="http://schemas.openxmlformats.org/officeDocument/2006/relationships/notesMaster" Target="/ppt/notesMasters/notesMaster1.xml" Id="R3b962151e39d46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01486354744d69" /><Relationship Type="http://schemas.openxmlformats.org/officeDocument/2006/relationships/notesMaster" Target="/ppt/notesMasters/notesMaster1.xml" Id="R33bbef940de14f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9a5b430d234dd2" /><Relationship Type="http://schemas.openxmlformats.org/officeDocument/2006/relationships/notesMaster" Target="/ppt/notesMasters/notesMaster1.xml" Id="R242321b176da4d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a1c6dec23340f4" /><Relationship Type="http://schemas.openxmlformats.org/officeDocument/2006/relationships/notesMaster" Target="/ppt/notesMasters/notesMaster1.xml" Id="R211cbce19cd443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20ecdaad784701" /><Relationship Type="http://schemas.openxmlformats.org/officeDocument/2006/relationships/notesMaster" Target="/ppt/notesMasters/notesMaster1.xml" Id="Re91ac710c4ae4e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f4cbdbbde24ac6" /><Relationship Type="http://schemas.openxmlformats.org/officeDocument/2006/relationships/notesMaster" Target="/ppt/notesMasters/notesMaster1.xml" Id="Rc24b405159c341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2a6b3cf6cc45e5" /><Relationship Type="http://schemas.openxmlformats.org/officeDocument/2006/relationships/notesMaster" Target="/ppt/notesMasters/notesMaster1.xml" Id="Rd8c8172bfcbb48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d55a5e3dcd4eb0" /><Relationship Type="http://schemas.openxmlformats.org/officeDocument/2006/relationships/notesMaster" Target="/ppt/notesMasters/notesMaster1.xml" Id="R706249e80b8547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Dialex is a working product name. The first target market is Australian solar installation businesses. The planned Australian business and commercial model remain at proposal stage. Harbour Solar and all displayed calls are fictional. The product promise is to capture otherwise missed solar and battery enquiries and help the team progress them to assessments and completed installations. No conversion or revenue outcome is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sales offer, distinct from the feature list on the following slide. Proposed Growth terms are AUD $799 per month plus AUD $799 once for standard setup, excluding GST, with 1,500 included minutes. At an illustrative $1,000 contribution per additional completed solar installation, one installation contributes $1,000, leaving $201 after the monthly fee. Two installations contribute $2,000, leaving $402 after the first month plus setup. This $1,000 input is an example, not a researched solar industry average. Use the prospect's actual revenue less variable costs and attribute additional completed installations to Dialex. Site visits and quote enquiries must not be counted as sold installations. Overage, connector charges and additional operating costs increase the break-even requirement. A 30-day pilot is a proposed measurement period, not a free trial or money-back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site-visit booking is a proposed extension to the previous enquiry-and-callback scope. The production flow needs an authorised calendar or scheduling integration, staff availability, service-area eligibility, visit duration, travel buffers, time zone and daylight-saving handling, successful booking confirmation, duplicate prevention, and cancellation/rescheduling handling. The agent should only confirm a visit after the scheduling system accepts it. If no suitable slot is available or an integration fails, capture preferred times and request staff confirmation. Send the record to the installer's CRM or job system and deliver authorised customer/staff confirmations. Start with the pilot installer's actual system. OpenSolar supports project-linked calendar events and Google or Outlook calendar connections. Its API includes on-site sales visits, but API access is a paid product and needs separate cost and implementation review. Simpro markets scheduling to solar businesses. ServiceM8 provides booking services with availability and service-radius rules. These are documented options, not a claim about market share. Sources accessed 9 September 2026: https://support.opensolar.com/hc/en-us/articles/15951527060751-Calendar-Scheduling-in-OpenSolar ; https://developers.opensolar.com/api/events/ ; https://developers.opensolar.com/api/ ; https://www.simprogroup.com/industries/solar-renewable-business-software ; https://support.servicem8.com/help-center/servicem8-add-ons/services-online-booking/how-to-create-online-booking-forms-services ; https://developers.google.com/workspace/calendar/api/v3/reference ; https://learn.microsoft.com/en-us/graph/api/calendar-getschedule?view=graph-rest-1.0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overview shows Harbour Solar, a fictional Sydney installer. Sample metrics include solar and battery quote enquiries and site visits. They illustrate the workspace, not measured outcomes. The browser prototype has no authentication, telephony, AI, payment or calendar connection. Its booking records are fictional. The hosted demo is https://rohingosling.github.io/dialex-mvp-1/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Harper handles solar and battery enquiries. Guided setup produces a sample instruction template. The test displays a fixed solar enquiry transcript; it does not run the saved instructions through a live voice or AI service. Production instructions should distinguish general approved process information from technical design, off-grid suitability and final pricing that require a specialist. Booking rules should specify when a calendar may confirm a site assessment and when the team must follow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fictional call examples cover a solar and battery quote, a booked site assessment in a connected-calendar scenario, a battery callback, a request for a human, the installation process, an off-grid specialist enquiry, and a site visit awaiting confirmation. Both booked and requested visit states are simulations. The installation-process answer represents the fictional business's sample process. Actual approvals and timing vary by property and project. Off-grid questions receive general qualification and a specialist handoff, without a design, system-size recommendation or promised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AUD prices excluding GST: Starter $399/month for 500 minutes and one agent with additional minutes at $0.35. Growth $799/month for 1,500 minutes and three agents, additional minutes $0.30. Scale $1,499/month for 3,500 minutes and five agents, additional minutes $0.25. Minutes pool per account each month. Standard $799 setup covers one solar agent's greeting, enquiry questions, approved knowledge, handoff rules, test call and team handover. Calendar integration is separately scoped; do not present a custom integration as included. Growth costs $1,598 in the first month before overage, integrations and GST. Matching the setup amount to Growth's monthly price is a working pricing choice, not evidence of optimal conversion. Test the total upfront cost and setup scope with prospects. Support and outbound agent roles remain later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Contribution per installation means the additional installation revenue, excluding GST, less the costs that vary because that installation is delivered. Examples include panels, inverter, battery, mounting, installation labour or subcontractors, job-specific fees, variable selling commissions and other incremental delivery costs. It contributes toward fixed overheads and profit. It is not gross sales revenue or net profit after all business costs. It can differ from accounting gross profit because cost classifications differ. Illustrative example only: $8,000 revenue minus $7,000 variable job costs leaves $1,000 contribution. At that contribution: monthly break-even is ceiling(799/1000)=1 completed extra installation. First month plus setup is ceiling((799+799)/1000)=2 installations. One/two/three extra monthly installations leave $201/$1,201/$2,201 after the recurring subscription, before any extra overhead or tax. Sensitivity: at $500 contribution, two installations cover recurring and four cover first month. At $2,000 contribution, one covers either. The previous generic $200 assumption gave four recurring or eight first-month jobs and should not be treated as solar-market evidence. Count only additional completed installations attributable to Dialex. No time savings, additional-minute charges, calendar fees, cancellations, or collection delays are included. Source for contribution methodology: https://www.accaglobal.com/uk/en/student/exam-support-resources/fundamentals-exams-study-resources/f5/technical-articles/CVP-analysis.html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own illustrative Growth economics remain unchanged: monthly revenue $799, voice delivery at 1,500 minutes times $0.20 = $300, plus $100 support/account operations gives $400 recurring cost and $399 gross profit (49.94%). These are assumptions, not supplier quotes. They exclude fixed overhead, founder pay, acquisition expense and tax. Calendar-provider/API costs and additional scheduling support have not been costed and may reduce the margin. Eight Growth customers at $399 gross profit cover an assumed $3,000 monthly fixed overhead before those exclusions. Each additional 1,000 minutes sold at $0.30 and delivered at $0.20 adds $100 gross profit before extra support. Do not confuse our margin per installer account with the installer's contribution per solar installation on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First-year arithmetic scenarios for solar installer accounts, not demand forecasts. Start with zero accounts, add 1/2/4 new Growth customers at the beginning of every month, charge a full first month and $799 setup once, and assume no cancellations, discounts, refunds, free trials or collection delays. Customer-months are 78/156/312; month-12 customers are 12/24/48. Recurring revenue in month 12 is $9,588/$19,176/$38,352. Year-one subscription revenue is $62,322/$124,644/$249,288 and setup revenue is $9,588/$19,176/$38,352, for total revenue $71,910/$143,820/$287,680. Gross profit uses $399 per customer-month and $499 per setup, assuming $300 setup delivery cost, for $37,110/$74,220/$148,440. Figures exclude fixed overheads, acquisition, founder pay, tax and currently uncosted calendar integrations. All amounts exclude GST.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solar installer's own missed-call records and sales process. Ask who handles incoming solar and battery enquiries, whether a site visit or remote assessment comes first, which calendar/CRM/job system owns visits, service areas and travel constraints, quote-to-install conversion, contribution after variable costs and time to complete an installation. Define which enquiry counts as incremental. Use one bounded inbound pilot for 30 days and follow completed installations beyond the pilot if the sales cycle is longer. The proposed pitch is outcome-led, with conditional arithmetic rather than a promised number of recovered installations. No free pilot, discount or performance guarantee has been approved.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7f918b83d84c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8505137fcc403b" /><Relationship Type="http://schemas.openxmlformats.org/officeDocument/2006/relationships/slideLayout" Target="/ppt/slideLayouts/slideLayout1.xml" Id="R8a6e92d1dd2949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6e92d1dd2949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3a6250c9cf44d9" /><Relationship Type="http://schemas.openxmlformats.org/officeDocument/2006/relationships/notesSlide" Target="/ppt/notesSlides/notesSlide1.xml" Id="R8c4e0d69512248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c69a8ea0794bd8" /><Relationship Type="http://schemas.openxmlformats.org/officeDocument/2006/relationships/notesSlide" Target="/ppt/notesSlides/notesSlide2.xml" Id="Rf2a4a6ae39fa47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554607ee7a4166" /><Relationship Type="http://schemas.openxmlformats.org/officeDocument/2006/relationships/notesSlide" Target="/ppt/notesSlides/notesSlide3.xml" Id="R49f5efb8226043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6dc98a4a4b4d69" /><Relationship Type="http://schemas.openxmlformats.org/officeDocument/2006/relationships/image" Target="/ppt/media/image.png" Id="Re7e63dad1ed54804" /><Relationship Type="http://schemas.openxmlformats.org/officeDocument/2006/relationships/notesSlide" Target="/ppt/notesSlides/notesSlide4.xml" Id="R4e3072bd60bd48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4baf5de9f54c23" /><Relationship Type="http://schemas.openxmlformats.org/officeDocument/2006/relationships/image" Target="/ppt/media/image2.png" Id="R148ee004323948ae" /><Relationship Type="http://schemas.openxmlformats.org/officeDocument/2006/relationships/notesSlide" Target="/ppt/notesSlides/notesSlide5.xml" Id="Raaf38c8542d947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b7ce74ac8f45d1" /><Relationship Type="http://schemas.openxmlformats.org/officeDocument/2006/relationships/image" Target="/ppt/media/image3.png" Id="R6224530b2af64ea1" /><Relationship Type="http://schemas.openxmlformats.org/officeDocument/2006/relationships/notesSlide" Target="/ppt/notesSlides/notesSlide6.xml" Id="R9d7f0c9c238c4e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b6bea2c4b04a00" /><Relationship Type="http://schemas.openxmlformats.org/officeDocument/2006/relationships/notesSlide" Target="/ppt/notesSlides/notesSlide7.xml" Id="Rd2e92bbaf6bd45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9b2f9c2a684c2c" /><Relationship Type="http://schemas.openxmlformats.org/officeDocument/2006/relationships/notesSlide" Target="/ppt/notesSlides/notesSlide8.xml" Id="R56d9e9ef537845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bfb14d6d2c4725" /><Relationship Type="http://schemas.openxmlformats.org/officeDocument/2006/relationships/notesSlide" Target="/ppt/notesSlides/notesSlide9.xml" Id="R0549ea78f73248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ee9ad96a9940e1" /><Relationship Type="http://schemas.openxmlformats.org/officeDocument/2006/relationships/notesSlide" Target="/ppt/notesSlides/notesSlide10.xml" Id="Rcf7ef574029146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757ce98ddc4f16" /><Relationship Type="http://schemas.openxmlformats.org/officeDocument/2006/relationships/notesSlide" Target="/ppt/notesSlides/notesSlide11.xml" Id="R72f809dadc6646a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78CA9AD3-3E84-4560-88E2-D80F147D3809}"/>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Dialex">
            <a:extLst xmlns:a="http://schemas.openxmlformats.org/drawingml/2006/main">
              <a:ext uri="{FF2B5EF4-FFF2-40B4-BE49-F238E27FC236}">
                <a16:creationId xmlns:a16="http://schemas.microsoft.com/office/drawing/2014/main" id="{11C08A8E-09E4-4D98-8EFF-BFB96896FB27}"/>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Dialex</a:t>
            </a:r>
            <a:r>
              <a:rPr sz="3300" b="1">
                <a:solidFill>
                  <a:srgbClr val="F6E5A6"/>
                </a:solidFill>
                <a:latin typeface="Segoe UI"/>
                <a:ea typeface="Segoe UI"/>
                <a:cs typeface="Segoe UI"/>
              </a:rPr>
              <a:t> – Solar Installation Package</a:t>
            </a:r>
            <a:endParaRPr sz="3300" b="1">
              <a:solidFill>
                <a:srgbClr val="F6E5A6"/>
              </a:solidFill>
              <a:latin typeface="Segoe UI"/>
              <a:ea typeface="Segoe UI"/>
              <a:cs typeface="Segoe UI"/>
            </a:endParaRPr>
          </a:p>
        </p:txBody>
      </p:sp>
      <p:sp>
        <p:nvSpPr>
          <p:cNvPr id="3" name="Product offering and partner overview">
            <a:extLst xmlns:a="http://schemas.openxmlformats.org/drawingml/2006/main">
              <a:ext uri="{FF2B5EF4-FFF2-40B4-BE49-F238E27FC236}">
                <a16:creationId xmlns:a16="http://schemas.microsoft.com/office/drawing/2014/main" id="{92AB66C5-4989-4B31-A515-0B5BF992AB20}"/>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Sales offer and partner overview for Australian solar installers</a:t>
            </a:r>
          </a:p>
        </p:txBody>
      </p:sp>
      <p:sp>
        <p:nvSpPr>
          <p:cNvPr id="4" name="Partner discussion draft. Australian market. ">
            <a:extLst xmlns:a="http://schemas.openxmlformats.org/drawingml/2006/main">
              <a:ext uri="{FF2B5EF4-FFF2-40B4-BE49-F238E27FC236}">
                <a16:creationId xmlns:a16="http://schemas.microsoft.com/office/drawing/2014/main" id="{6DA13BC4-79D8-4928-B474-3F26AABAC6EF}"/>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Partner discussion draft. Australian market. September 2026.</a:t>
            </a:r>
          </a:p>
        </p:txBody>
      </p:sp>
      <p:sp>
        <p:nvSpPr>
          <p:cNvPr id="5" name="01">
            <a:extLst xmlns:a="http://schemas.openxmlformats.org/drawingml/2006/main">
              <a:ext uri="{FF2B5EF4-FFF2-40B4-BE49-F238E27FC236}">
                <a16:creationId xmlns:a16="http://schemas.microsoft.com/office/drawing/2014/main" id="{3AD97403-4A36-4702-A73C-AEC2D037E19A}"/>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01</a:t>
            </a:r>
          </a:p>
        </p:txBody>
      </p:sp>
      <p:sp>
        <p:nvSpPr>
          <p:cNvPr id="6" name="AI voice agents for everyday&#10;customer enquiri">
            <a:extLst xmlns:a="http://schemas.openxmlformats.org/drawingml/2006/main">
              <a:ext uri="{FF2B5EF4-FFF2-40B4-BE49-F238E27FC236}">
                <a16:creationId xmlns:a16="http://schemas.microsoft.com/office/drawing/2014/main" id="{7FCD4D0C-C835-4263-B841-A80DB852654C}"/>
              </a:ext>
            </a:extLst>
          </p:cNvPr>
          <p:cNvSpPr>
            <a:spLocks xmlns:a="http://schemas.openxmlformats.org/drawingml/2006/main" noGrp="1"/>
          </p:cNvSpPr>
          <p:nvPr/>
        </p:nvSpPr>
        <p:spPr>
          <a:xfrm xmlns:a="http://schemas.openxmlformats.org/drawingml/2006/main">
            <a:off x="571500" y="1905000"/>
            <a:ext cx="10763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675" b="1">
                <a:solidFill>
                  <a:srgbClr val="111111"/>
                </a:solidFill>
                <a:latin typeface="Segoe UI"/>
                <a:ea typeface="Segoe UI"/>
                <a:cs typeface="Segoe UI"/>
              </a:defRPr>
            </a:pPr>
            <a:r>
              <a:rPr sz="3675" b="1">
                <a:solidFill>
                  <a:srgbClr val="111111"/>
                </a:solidFill>
                <a:latin typeface="Segoe UI"/>
                <a:ea typeface="Segoe UI"/>
                <a:cs typeface="Segoe UI"/>
              </a:rPr>
              <a:t>More solar opportunities from</a:t>
            </a:r>
          </a:p>
          <a:p xmlns:a="http://schemas.openxmlformats.org/drawingml/2006/main">
            <a:pPr>
              <a:buNone/>
              <a:defRPr sz="3675" b="1">
                <a:solidFill>
                  <a:srgbClr val="111111"/>
                </a:solidFill>
                <a:latin typeface="Segoe UI"/>
                <a:ea typeface="Segoe UI"/>
                <a:cs typeface="Segoe UI"/>
              </a:defRPr>
            </a:pPr>
            <a:r>
              <a:rPr sz="3675" b="1">
                <a:solidFill>
                  <a:srgbClr val="111111"/>
                </a:solidFill>
                <a:latin typeface="Segoe UI"/>
                <a:ea typeface="Segoe UI"/>
                <a:cs typeface="Segoe UI"/>
              </a:rPr>
              <a:t>the calls you already receive</a:t>
            </a:r>
          </a:p>
        </p:txBody>
      </p:sp>
      <p:sp>
        <p:nvSpPr>
          <p:cNvPr id="7" name="Help small businesses capture enquiries, arra">
            <a:extLst xmlns:a="http://schemas.openxmlformats.org/drawingml/2006/main">
              <a:ext uri="{FF2B5EF4-FFF2-40B4-BE49-F238E27FC236}">
                <a16:creationId xmlns:a16="http://schemas.microsoft.com/office/drawing/2014/main" id="{E457C9BD-7CF4-4041-BC3F-437D8EB114C8}"/>
              </a:ext>
            </a:extLst>
          </p:cNvPr>
          <p:cNvSpPr>
            <a:spLocks xmlns:a="http://schemas.openxmlformats.org/drawingml/2006/main" noGrp="1"/>
          </p:cNvSpPr>
          <p:nvPr/>
        </p:nvSpPr>
        <p:spPr>
          <a:xfrm xmlns:a="http://schemas.openxmlformats.org/drawingml/2006/main">
            <a:off x="571500" y="3524250"/>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11111"/>
                </a:solidFill>
                <a:latin typeface="Segoe UI"/>
                <a:ea typeface="Segoe UI"/>
                <a:cs typeface="Segoe UI"/>
              </a:defRPr>
            </a:pPr>
            <a:r>
              <a:rPr sz="2175" b="0">
                <a:solidFill>
                  <a:srgbClr val="111111"/>
                </a:solidFill>
                <a:latin typeface="Segoe UI"/>
                <a:ea typeface="Segoe UI"/>
                <a:cs typeface="Segoe UI"/>
              </a:rPr>
              <a:t>Capture quote enquiries, arrange site assessments</a:t>
            </a:r>
          </a:p>
          <a:p xmlns:a="http://schemas.openxmlformats.org/drawingml/2006/main">
            <a:pPr>
              <a:buNone/>
              <a:defRPr sz="2175" b="0">
                <a:solidFill>
                  <a:srgbClr val="111111"/>
                </a:solidFill>
                <a:latin typeface="Segoe UI"/>
                <a:ea typeface="Segoe UI"/>
                <a:cs typeface="Segoe UI"/>
              </a:defRPr>
            </a:pPr>
            <a:r>
              <a:rPr sz="2175" b="0">
                <a:solidFill>
                  <a:srgbClr val="111111"/>
                </a:solidFill>
                <a:latin typeface="Segoe UI"/>
                <a:ea typeface="Segoe UI"/>
                <a:cs typeface="Segoe UI"/>
              </a:rPr>
              <a:t>and help your solar team follow up with context.</a:t>
            </a:r>
          </a:p>
        </p:txBody>
      </p:sp>
      <p:sp>
        <p:nvSpPr>
          <p:cNvPr id="8" name="The first offer: an inbound agent with guided">
            <a:extLst xmlns:a="http://schemas.openxmlformats.org/drawingml/2006/main">
              <a:ext uri="{FF2B5EF4-FFF2-40B4-BE49-F238E27FC236}">
                <a16:creationId xmlns:a16="http://schemas.microsoft.com/office/drawing/2014/main" id="{D60BE025-0EE8-458B-AD39-0741F3972C5E}"/>
              </a:ext>
            </a:extLst>
          </p:cNvPr>
          <p:cNvSpPr>
            <a:spLocks xmlns:a="http://schemas.openxmlformats.org/drawingml/2006/main" noGrp="1"/>
          </p:cNvSpPr>
          <p:nvPr/>
        </p:nvSpPr>
        <p:spPr>
          <a:xfrm xmlns:a="http://schemas.openxmlformats.org/drawingml/2006/main">
            <a:off x="571500" y="4924425"/>
            <a:ext cx="11049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111111"/>
                </a:solidFill>
                <a:latin typeface="Segoe UI"/>
                <a:ea typeface="Segoe UI"/>
                <a:cs typeface="Segoe UI"/>
              </a:defRPr>
            </a:pPr>
            <a:r>
              <a:rPr sz="1950" b="0">
                <a:solidFill>
                  <a:srgbClr val="111111"/>
                </a:solidFill>
                <a:latin typeface="Segoe UI"/>
                <a:ea typeface="Segoe UI"/>
                <a:cs typeface="Segoe UI"/>
              </a:rPr>
              <a:t>An inbound solar agent with guided setup</a:t>
            </a:r>
          </a:p>
          <a:p xmlns:a="http://schemas.openxmlformats.org/drawingml/2006/main">
            <a:pPr>
              <a:buNone/>
              <a:defRPr sz="1950" b="0">
                <a:solidFill>
                  <a:srgbClr val="111111"/>
                </a:solidFill>
                <a:latin typeface="Segoe UI"/>
                <a:ea typeface="Segoe UI"/>
                <a:cs typeface="Segoe UI"/>
              </a:defRPr>
            </a:pPr>
            <a:r>
              <a:rPr sz="1950" b="0">
                <a:solidFill>
                  <a:srgbClr val="111111"/>
                </a:solidFill>
                <a:latin typeface="Segoe UI"/>
                <a:ea typeface="Segoe UI"/>
                <a:cs typeface="Segoe UI"/>
              </a:rPr>
              <a:t>and a workspace for enquiries, visits and callbacks.</a:t>
            </a:r>
          </a:p>
        </p:txBody>
      </p:sp>
    </p:spTree>
    <p:extLst>
      <p:ext uri="{BB962C8B-B14F-4D97-AF65-F5344CB8AC3E}">
        <p14:creationId xmlns:p14="http://schemas.microsoft.com/office/powerpoint/2010/main" val="10165374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A73BB053-03D2-4C5D-AFD8-49D1DB35FC73}"/>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he proposed offer">
            <a:extLst xmlns:a="http://schemas.openxmlformats.org/drawingml/2006/main">
              <a:ext uri="{FF2B5EF4-FFF2-40B4-BE49-F238E27FC236}">
                <a16:creationId xmlns:a16="http://schemas.microsoft.com/office/drawing/2014/main" id="{006CFA99-E4BE-454A-9948-EC064681002B}"/>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The core sales offer</a:t>
            </a:r>
          </a:p>
        </p:txBody>
      </p:sp>
      <p:sp>
        <p:nvSpPr>
          <p:cNvPr id="3" name="A focused service the customer can understand">
            <a:extLst xmlns:a="http://schemas.openxmlformats.org/drawingml/2006/main">
              <a:ext uri="{FF2B5EF4-FFF2-40B4-BE49-F238E27FC236}">
                <a16:creationId xmlns:a16="http://schemas.microsoft.com/office/drawing/2014/main" id="{E2ABD100-4A49-4793-82DA-BE667FADA749}"/>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Recover solar enquiries your team would otherwise miss</a:t>
            </a:r>
          </a:p>
        </p:txBody>
      </p:sp>
      <p:sp>
        <p:nvSpPr>
          <p:cNvPr id="4" name="Launch scope is proposed. Support, outbound c">
            <a:extLst xmlns:a="http://schemas.openxmlformats.org/drawingml/2006/main">
              <a:ext uri="{FF2B5EF4-FFF2-40B4-BE49-F238E27FC236}">
                <a16:creationId xmlns:a16="http://schemas.microsoft.com/office/drawing/2014/main" id="{1E6CB744-D36D-4320-9F45-8F39A484177E}"/>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Illustrative economics. Extra installations must be attributable to Dialex. Calendar integration required for bookings.</a:t>
            </a:r>
          </a:p>
        </p:txBody>
      </p:sp>
      <p:sp>
        <p:nvSpPr>
          <p:cNvPr id="5" name="03">
            <a:extLst xmlns:a="http://schemas.openxmlformats.org/drawingml/2006/main">
              <a:ext uri="{FF2B5EF4-FFF2-40B4-BE49-F238E27FC236}">
                <a16:creationId xmlns:a16="http://schemas.microsoft.com/office/drawing/2014/main" id="{8ACDFFF0-1F2B-4335-A525-DEB8F8DA63DC}"/>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02</a:t>
            </a:r>
          </a:p>
        </p:txBody>
      </p:sp>
      <p:sp>
        <p:nvSpPr>
          <p:cNvPr id="6" name="Answer and capture">
            <a:extLst xmlns:a="http://schemas.openxmlformats.org/drawingml/2006/main">
              <a:ext uri="{FF2B5EF4-FFF2-40B4-BE49-F238E27FC236}">
                <a16:creationId xmlns:a16="http://schemas.microsoft.com/office/drawing/2014/main" id="{30F6BD78-FB9C-4E3B-919F-F99C00B0A7D3}"/>
              </a:ext>
            </a:extLst>
          </p:cNvPr>
          <p:cNvSpPr>
            <a:spLocks xmlns:a="http://schemas.openxmlformats.org/drawingml/2006/main" noGrp="1"/>
          </p:cNvSpPr>
          <p:nvPr/>
        </p:nvSpPr>
        <p:spPr>
          <a:xfrm xmlns:a="http://schemas.openxmlformats.org/drawingml/2006/main">
            <a:off x="571500" y="17049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Missed solar enquiries</a:t>
            </a:r>
          </a:p>
        </p:txBody>
      </p:sp>
      <p:sp>
        <p:nvSpPr>
          <p:cNvPr id="7" name="An inbound voice agent uses approved business">
            <a:extLst xmlns:a="http://schemas.openxmlformats.org/drawingml/2006/main">
              <a:ext uri="{FF2B5EF4-FFF2-40B4-BE49-F238E27FC236}">
                <a16:creationId xmlns:a16="http://schemas.microsoft.com/office/drawing/2014/main" id="{BDC23A57-87A9-44F0-A60D-02CCA3D28E83}"/>
              </a:ext>
            </a:extLst>
          </p:cNvPr>
          <p:cNvSpPr>
            <a:spLocks xmlns:a="http://schemas.openxmlformats.org/drawingml/2006/main" noGrp="1"/>
          </p:cNvSpPr>
          <p:nvPr/>
        </p:nvSpPr>
        <p:spPr>
          <a:xfrm xmlns:a="http://schemas.openxmlformats.org/drawingml/2006/main">
            <a:off x="3810000" y="1704975"/>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Keep quote requests moving while your team is on the roof or with another customer.</a:t>
            </a:r>
          </a:p>
        </p:txBody>
      </p:sp>
      <p:sp>
        <p:nvSpPr>
          <p:cNvPr id="8" name="Rectangle 7">
            <a:extLst xmlns:a="http://schemas.openxmlformats.org/drawingml/2006/main">
              <a:ext uri="{FF2B5EF4-FFF2-40B4-BE49-F238E27FC236}">
                <a16:creationId xmlns:a16="http://schemas.microsoft.com/office/drawing/2014/main" id="{004213CE-E3A3-4FB0-89C0-3076F8D74708}"/>
              </a:ext>
            </a:extLst>
          </p:cNvPr>
          <p:cNvSpPr>
            <a:spLocks xmlns:a="http://schemas.openxmlformats.org/drawingml/2006/main" noGrp="1"/>
          </p:cNvSpPr>
          <p:nvPr/>
        </p:nvSpPr>
        <p:spPr>
          <a:xfrm xmlns:a="http://schemas.openxmlformats.org/drawingml/2006/main">
            <a:off x="571500" y="2619375"/>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Hand off to a person">
            <a:extLst xmlns:a="http://schemas.openxmlformats.org/drawingml/2006/main">
              <a:ext uri="{FF2B5EF4-FFF2-40B4-BE49-F238E27FC236}">
                <a16:creationId xmlns:a16="http://schemas.microsoft.com/office/drawing/2014/main" id="{A695FE5C-AD78-4DF8-9E92-9E5C922FF191}"/>
              </a:ext>
            </a:extLst>
          </p:cNvPr>
          <p:cNvSpPr>
            <a:spLocks xmlns:a="http://schemas.openxmlformats.org/drawingml/2006/main" noGrp="1"/>
          </p:cNvSpPr>
          <p:nvPr/>
        </p:nvSpPr>
        <p:spPr>
          <a:xfrm xmlns:a="http://schemas.openxmlformats.org/drawingml/2006/main">
            <a:off x="571500" y="27622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One recovered install</a:t>
            </a:r>
          </a:p>
        </p:txBody>
      </p:sp>
      <p:sp>
        <p:nvSpPr>
          <p:cNvPr id="10" name="The agent escalates urgent or complex enquiri">
            <a:extLst xmlns:a="http://schemas.openxmlformats.org/drawingml/2006/main">
              <a:ext uri="{FF2B5EF4-FFF2-40B4-BE49-F238E27FC236}">
                <a16:creationId xmlns:a16="http://schemas.microsoft.com/office/drawing/2014/main" id="{922A3039-1E4F-46E9-841D-18B41199D826}"/>
              </a:ext>
            </a:extLst>
          </p:cNvPr>
          <p:cNvSpPr>
            <a:spLocks xmlns:a="http://schemas.openxmlformats.org/drawingml/2006/main" noGrp="1"/>
          </p:cNvSpPr>
          <p:nvPr/>
        </p:nvSpPr>
        <p:spPr>
          <a:xfrm xmlns:a="http://schemas.openxmlformats.org/drawingml/2006/main">
            <a:off x="3810000" y="2762250"/>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At $1,000 contribution per extra installation, one covers the $799 monthly Growth fee.</a:t>
            </a:r>
          </a:p>
        </p:txBody>
      </p:sp>
      <p:sp>
        <p:nvSpPr>
          <p:cNvPr id="11" name="Rectangle 10">
            <a:extLst xmlns:a="http://schemas.openxmlformats.org/drawingml/2006/main">
              <a:ext uri="{FF2B5EF4-FFF2-40B4-BE49-F238E27FC236}">
                <a16:creationId xmlns:a16="http://schemas.microsoft.com/office/drawing/2014/main" id="{2F3222E1-5894-43B9-BAC1-55D3A0929294}"/>
              </a:ext>
            </a:extLst>
          </p:cNvPr>
          <p:cNvSpPr>
            <a:spLocks xmlns:a="http://schemas.openxmlformats.org/drawingml/2006/main" noGrp="1"/>
          </p:cNvSpPr>
          <p:nvPr/>
        </p:nvSpPr>
        <p:spPr>
          <a:xfrm xmlns:a="http://schemas.openxmlformats.org/drawingml/2006/main">
            <a:off x="571500" y="3676650"/>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Show what happened">
            <a:extLst xmlns:a="http://schemas.openxmlformats.org/drawingml/2006/main">
              <a:ext uri="{FF2B5EF4-FFF2-40B4-BE49-F238E27FC236}">
                <a16:creationId xmlns:a16="http://schemas.microsoft.com/office/drawing/2014/main" id="{7B802B59-FF8B-4458-B6AF-505FFABD45A7}"/>
              </a:ext>
            </a:extLst>
          </p:cNvPr>
          <p:cNvSpPr>
            <a:spLocks xmlns:a="http://schemas.openxmlformats.org/drawingml/2006/main" noGrp="1"/>
          </p:cNvSpPr>
          <p:nvPr/>
        </p:nvSpPr>
        <p:spPr>
          <a:xfrm xmlns:a="http://schemas.openxmlformats.org/drawingml/2006/main">
            <a:off x="571500" y="38195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A clear starting price</a:t>
            </a:r>
          </a:p>
        </p:txBody>
      </p:sp>
      <p:sp>
        <p:nvSpPr>
          <p:cNvPr id="13" name="The customer reviews call summaries, outcomes">
            <a:extLst xmlns:a="http://schemas.openxmlformats.org/drawingml/2006/main">
              <a:ext uri="{FF2B5EF4-FFF2-40B4-BE49-F238E27FC236}">
                <a16:creationId xmlns:a16="http://schemas.microsoft.com/office/drawing/2014/main" id="{1A1AE2A5-9730-488F-8407-64076C7D4DC6}"/>
              </a:ext>
            </a:extLst>
          </p:cNvPr>
          <p:cNvSpPr>
            <a:spLocks xmlns:a="http://schemas.openxmlformats.org/drawingml/2006/main" noGrp="1"/>
          </p:cNvSpPr>
          <p:nvPr/>
        </p:nvSpPr>
        <p:spPr>
          <a:xfrm xmlns:a="http://schemas.openxmlformats.org/drawingml/2006/main">
            <a:off x="3810000" y="3819525"/>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$799/month plus $799 once for setup. Two extra installs cover the $1,598 first-month cost.</a:t>
            </a:r>
          </a:p>
        </p:txBody>
      </p:sp>
      <p:sp>
        <p:nvSpPr>
          <p:cNvPr id="14" name="Rectangle 13">
            <a:extLst xmlns:a="http://schemas.openxmlformats.org/drawingml/2006/main">
              <a:ext uri="{FF2B5EF4-FFF2-40B4-BE49-F238E27FC236}">
                <a16:creationId xmlns:a16="http://schemas.microsoft.com/office/drawing/2014/main" id="{06B02989-969B-4F4E-BD02-252AA0790319}"/>
              </a:ext>
            </a:extLst>
          </p:cNvPr>
          <p:cNvSpPr>
            <a:spLocks xmlns:a="http://schemas.openxmlformats.org/drawingml/2006/main" noGrp="1"/>
          </p:cNvSpPr>
          <p:nvPr/>
        </p:nvSpPr>
        <p:spPr>
          <a:xfrm xmlns:a="http://schemas.openxmlformats.org/drawingml/2006/main">
            <a:off x="571500" y="4733925"/>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Help them get started">
            <a:extLst xmlns:a="http://schemas.openxmlformats.org/drawingml/2006/main">
              <a:ext uri="{FF2B5EF4-FFF2-40B4-BE49-F238E27FC236}">
                <a16:creationId xmlns:a16="http://schemas.microsoft.com/office/drawing/2014/main" id="{F21FE9DA-EC91-4F73-A0F5-74D4566E100C}"/>
              </a:ext>
            </a:extLst>
          </p:cNvPr>
          <p:cNvSpPr>
            <a:spLocks xmlns:a="http://schemas.openxmlformats.org/drawingml/2006/main" noGrp="1"/>
          </p:cNvSpPr>
          <p:nvPr/>
        </p:nvSpPr>
        <p:spPr>
          <a:xfrm xmlns:a="http://schemas.openxmlformats.org/drawingml/2006/main">
            <a:off x="571500" y="4876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Proof from a pilot</a:t>
            </a:r>
          </a:p>
        </p:txBody>
      </p:sp>
      <p:sp>
        <p:nvSpPr>
          <p:cNvPr id="16" name="One standard agent setup, a test conversation">
            <a:extLst xmlns:a="http://schemas.openxmlformats.org/drawingml/2006/main">
              <a:ext uri="{FF2B5EF4-FFF2-40B4-BE49-F238E27FC236}">
                <a16:creationId xmlns:a16="http://schemas.microsoft.com/office/drawing/2014/main" id="{70C678CC-05A0-432D-939D-931B8FAD51FE}"/>
              </a:ext>
            </a:extLst>
          </p:cNvPr>
          <p:cNvSpPr>
            <a:spLocks xmlns:a="http://schemas.openxmlformats.org/drawingml/2006/main" noGrp="1"/>
          </p:cNvSpPr>
          <p:nvPr/>
        </p:nvSpPr>
        <p:spPr>
          <a:xfrm xmlns:a="http://schemas.openxmlformats.org/drawingml/2006/main">
            <a:off x="3810000" y="4876800"/>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Track missed calls, quote enquiries, site visits and completed installations during a 30-day pilot.</a:t>
            </a:r>
          </a:p>
        </p:txBody>
      </p:sp>
    </p:spTree>
    <p:extLst>
      <p:ext uri="{BB962C8B-B14F-4D97-AF65-F5344CB8AC3E}">
        <p14:creationId xmlns:p14="http://schemas.microsoft.com/office/powerpoint/2010/main" val="19937806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3302ED0A-D090-4850-80F2-CD3894E7CAED}"/>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A customer enquiry">
            <a:extLst xmlns:a="http://schemas.openxmlformats.org/drawingml/2006/main">
              <a:ext uri="{FF2B5EF4-FFF2-40B4-BE49-F238E27FC236}">
                <a16:creationId xmlns:a16="http://schemas.microsoft.com/office/drawing/2014/main" id="{91742AF8-0AAC-4BAC-BF5C-A94D713ED53C}"/>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Features and site visits</a:t>
            </a:r>
          </a:p>
        </p:txBody>
      </p:sp>
      <p:sp>
        <p:nvSpPr>
          <p:cNvPr id="3" name="Example: Harbour Home Services, a fictional S">
            <a:extLst xmlns:a="http://schemas.openxmlformats.org/drawingml/2006/main">
              <a:ext uri="{FF2B5EF4-FFF2-40B4-BE49-F238E27FC236}">
                <a16:creationId xmlns:a16="http://schemas.microsoft.com/office/drawing/2014/main" id="{95E5A001-93C5-4218-9C3E-CA776F200AA6}"/>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Example: Harbour Solar, a fictional Sydney solar installer</a:t>
            </a:r>
          </a:p>
        </p:txBody>
      </p:sp>
      <p:sp>
        <p:nvSpPr>
          <p:cNvPr id="4" name="Illustrative workflow. The business confirms ">
            <a:extLst xmlns:a="http://schemas.openxmlformats.org/drawingml/2006/main">
              <a:ext uri="{FF2B5EF4-FFF2-40B4-BE49-F238E27FC236}">
                <a16:creationId xmlns:a16="http://schemas.microsoft.com/office/drawing/2014/main" id="{222E7289-6633-4DDA-87EE-B92705A29777}"/>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Proposed service. The prototype simulates calls and bookings. The installer confirms designs and final quotes.</a:t>
            </a:r>
          </a:p>
        </p:txBody>
      </p:sp>
      <p:sp>
        <p:nvSpPr>
          <p:cNvPr id="5" name="04">
            <a:extLst xmlns:a="http://schemas.openxmlformats.org/drawingml/2006/main">
              <a:ext uri="{FF2B5EF4-FFF2-40B4-BE49-F238E27FC236}">
                <a16:creationId xmlns:a16="http://schemas.microsoft.com/office/drawing/2014/main" id="{A8792E7D-0308-46A7-8508-484FC9277592}"/>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03</a:t>
            </a:r>
          </a:p>
        </p:txBody>
      </p:sp>
      <p:sp>
        <p:nvSpPr>
          <p:cNvPr id="6" name="1. A customer calls">
            <a:extLst xmlns:a="http://schemas.openxmlformats.org/drawingml/2006/main">
              <a:ext uri="{FF2B5EF4-FFF2-40B4-BE49-F238E27FC236}">
                <a16:creationId xmlns:a16="http://schemas.microsoft.com/office/drawing/2014/main" id="{52C0BBE4-9219-45CC-AAB2-927CA1D5BDD0}"/>
              </a:ext>
            </a:extLst>
          </p:cNvPr>
          <p:cNvSpPr>
            <a:spLocks xmlns:a="http://schemas.openxmlformats.org/drawingml/2006/main" noGrp="1"/>
          </p:cNvSpPr>
          <p:nvPr/>
        </p:nvSpPr>
        <p:spPr>
          <a:xfrm xmlns:a="http://schemas.openxmlformats.org/drawingml/2006/main">
            <a:off x="571500" y="17049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Qualify solar enquiries</a:t>
            </a:r>
          </a:p>
        </p:txBody>
      </p:sp>
      <p:sp>
        <p:nvSpPr>
          <p:cNvPr id="7" name="Sarah needs an electrician. The team is busy ">
            <a:extLst xmlns:a="http://schemas.openxmlformats.org/drawingml/2006/main">
              <a:ext uri="{FF2B5EF4-FFF2-40B4-BE49-F238E27FC236}">
                <a16:creationId xmlns:a16="http://schemas.microsoft.com/office/drawing/2014/main" id="{CAD4740C-C440-42B7-B51E-A292A36FD7E7}"/>
              </a:ext>
            </a:extLst>
          </p:cNvPr>
          <p:cNvSpPr>
            <a:spLocks xmlns:a="http://schemas.openxmlformats.org/drawingml/2006/main" noGrp="1"/>
          </p:cNvSpPr>
          <p:nvPr/>
        </p:nvSpPr>
        <p:spPr>
          <a:xfrm xmlns:a="http://schemas.openxmlformats.org/drawingml/2006/main">
            <a:off x="3810000" y="1704975"/>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Capture the property suburb, solar or battery interest, quote request and callback preference.</a:t>
            </a:r>
          </a:p>
        </p:txBody>
      </p:sp>
      <p:sp>
        <p:nvSpPr>
          <p:cNvPr id="8" name="Rectangle 7">
            <a:extLst xmlns:a="http://schemas.openxmlformats.org/drawingml/2006/main">
              <a:ext uri="{FF2B5EF4-FFF2-40B4-BE49-F238E27FC236}">
                <a16:creationId xmlns:a16="http://schemas.microsoft.com/office/drawing/2014/main" id="{D04C14BC-419F-4B6A-AE46-BFA525394DC4}"/>
              </a:ext>
            </a:extLst>
          </p:cNvPr>
          <p:cNvSpPr>
            <a:spLocks xmlns:a="http://schemas.openxmlformats.org/drawingml/2006/main" noGrp="1"/>
          </p:cNvSpPr>
          <p:nvPr/>
        </p:nvSpPr>
        <p:spPr>
          <a:xfrm xmlns:a="http://schemas.openxmlformats.org/drawingml/2006/main">
            <a:off x="571500" y="2619375"/>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2. The agent responds">
            <a:extLst xmlns:a="http://schemas.openxmlformats.org/drawingml/2006/main">
              <a:ext uri="{FF2B5EF4-FFF2-40B4-BE49-F238E27FC236}">
                <a16:creationId xmlns:a16="http://schemas.microsoft.com/office/drawing/2014/main" id="{CC71680B-D328-4C0C-ACB8-5AA824120E17}"/>
              </a:ext>
            </a:extLst>
          </p:cNvPr>
          <p:cNvSpPr>
            <a:spLocks xmlns:a="http://schemas.openxmlformats.org/drawingml/2006/main" noGrp="1"/>
          </p:cNvSpPr>
          <p:nvPr/>
        </p:nvSpPr>
        <p:spPr>
          <a:xfrm xmlns:a="http://schemas.openxmlformats.org/drawingml/2006/main">
            <a:off x="571500" y="27622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Arrange a site visit</a:t>
            </a:r>
          </a:p>
        </p:txBody>
      </p:sp>
      <p:sp>
        <p:nvSpPr>
          <p:cNvPr id="10" name="Harper introduces itself and captures the enq">
            <a:extLst xmlns:a="http://schemas.openxmlformats.org/drawingml/2006/main">
              <a:ext uri="{FF2B5EF4-FFF2-40B4-BE49-F238E27FC236}">
                <a16:creationId xmlns:a16="http://schemas.microsoft.com/office/drawing/2014/main" id="{A28A2566-25EB-4D45-A5EE-522AB6ED73CD}"/>
              </a:ext>
            </a:extLst>
          </p:cNvPr>
          <p:cNvSpPr>
            <a:spLocks xmlns:a="http://schemas.openxmlformats.org/drawingml/2006/main" noGrp="1"/>
          </p:cNvSpPr>
          <p:nvPr/>
        </p:nvSpPr>
        <p:spPr>
          <a:xfrm xmlns:a="http://schemas.openxmlformats.org/drawingml/2006/main">
            <a:off x="3810000" y="2762250"/>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Book an approved calendar slot. If booking is unavailable, collect preferred times for staff to confirm.</a:t>
            </a:r>
          </a:p>
        </p:txBody>
      </p:sp>
      <p:sp>
        <p:nvSpPr>
          <p:cNvPr id="11" name="Rectangle 10">
            <a:extLst xmlns:a="http://schemas.openxmlformats.org/drawingml/2006/main">
              <a:ext uri="{FF2B5EF4-FFF2-40B4-BE49-F238E27FC236}">
                <a16:creationId xmlns:a16="http://schemas.microsoft.com/office/drawing/2014/main" id="{6CE2939A-0480-4C55-8FDC-D8AD1991B374}"/>
              </a:ext>
            </a:extLst>
          </p:cNvPr>
          <p:cNvSpPr>
            <a:spLocks xmlns:a="http://schemas.openxmlformats.org/drawingml/2006/main" noGrp="1"/>
          </p:cNvSpPr>
          <p:nvPr/>
        </p:nvSpPr>
        <p:spPr>
          <a:xfrm xmlns:a="http://schemas.openxmlformats.org/drawingml/2006/main">
            <a:off x="571500" y="3676650"/>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3. The record is ready">
            <a:extLst xmlns:a="http://schemas.openxmlformats.org/drawingml/2006/main">
              <a:ext uri="{FF2B5EF4-FFF2-40B4-BE49-F238E27FC236}">
                <a16:creationId xmlns:a16="http://schemas.microsoft.com/office/drawing/2014/main" id="{CF1E5852-E234-4E0F-9436-2AE49B6A2E00}"/>
              </a:ext>
            </a:extLst>
          </p:cNvPr>
          <p:cNvSpPr>
            <a:spLocks xmlns:a="http://schemas.openxmlformats.org/drawingml/2006/main" noGrp="1"/>
          </p:cNvSpPr>
          <p:nvPr/>
        </p:nvSpPr>
        <p:spPr>
          <a:xfrm xmlns:a="http://schemas.openxmlformats.org/drawingml/2006/main">
            <a:off x="571500" y="38195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Answer and hand off</a:t>
            </a:r>
          </a:p>
        </p:txBody>
      </p:sp>
      <p:sp>
        <p:nvSpPr>
          <p:cNvPr id="13" name="The business sees a short summary and a clear">
            <a:extLst xmlns:a="http://schemas.openxmlformats.org/drawingml/2006/main">
              <a:ext uri="{FF2B5EF4-FFF2-40B4-BE49-F238E27FC236}">
                <a16:creationId xmlns:a16="http://schemas.microsoft.com/office/drawing/2014/main" id="{CEAC955D-2989-4461-BC04-34702B308B62}"/>
              </a:ext>
            </a:extLst>
          </p:cNvPr>
          <p:cNvSpPr>
            <a:spLocks xmlns:a="http://schemas.openxmlformats.org/drawingml/2006/main" noGrp="1"/>
          </p:cNvSpPr>
          <p:nvPr/>
        </p:nvSpPr>
        <p:spPr>
          <a:xfrm xmlns:a="http://schemas.openxmlformats.org/drawingml/2006/main">
            <a:off x="3810000" y="3819525"/>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Explain the approved installation process. Pass off-grid design and requests for a human to the team.</a:t>
            </a:r>
          </a:p>
        </p:txBody>
      </p:sp>
      <p:sp>
        <p:nvSpPr>
          <p:cNvPr id="14" name="Rectangle 13">
            <a:extLst xmlns:a="http://schemas.openxmlformats.org/drawingml/2006/main">
              <a:ext uri="{FF2B5EF4-FFF2-40B4-BE49-F238E27FC236}">
                <a16:creationId xmlns:a16="http://schemas.microsoft.com/office/drawing/2014/main" id="{771DE665-4628-42A5-9C57-DB5E1ECDC821}"/>
              </a:ext>
            </a:extLst>
          </p:cNvPr>
          <p:cNvSpPr>
            <a:spLocks xmlns:a="http://schemas.openxmlformats.org/drawingml/2006/main" noGrp="1"/>
          </p:cNvSpPr>
          <p:nvPr/>
        </p:nvSpPr>
        <p:spPr>
          <a:xfrm xmlns:a="http://schemas.openxmlformats.org/drawingml/2006/main">
            <a:off x="571500" y="4733925"/>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4. A person follows up">
            <a:extLst xmlns:a="http://schemas.openxmlformats.org/drawingml/2006/main">
              <a:ext uri="{FF2B5EF4-FFF2-40B4-BE49-F238E27FC236}">
                <a16:creationId xmlns:a16="http://schemas.microsoft.com/office/drawing/2014/main" id="{9BA4A627-2911-4CA7-BC2E-9CF8B8F837FD}"/>
              </a:ext>
            </a:extLst>
          </p:cNvPr>
          <p:cNvSpPr>
            <a:spLocks xmlns:a="http://schemas.openxmlformats.org/drawingml/2006/main" noGrp="1"/>
          </p:cNvSpPr>
          <p:nvPr/>
        </p:nvSpPr>
        <p:spPr>
          <a:xfrm xmlns:a="http://schemas.openxmlformats.org/drawingml/2006/main">
            <a:off x="571500" y="48768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Keep the record</a:t>
            </a:r>
          </a:p>
        </p:txBody>
      </p:sp>
      <p:sp>
        <p:nvSpPr>
          <p:cNvPr id="16" name="The team confirms the job details, availabili">
            <a:extLst xmlns:a="http://schemas.openxmlformats.org/drawingml/2006/main">
              <a:ext uri="{FF2B5EF4-FFF2-40B4-BE49-F238E27FC236}">
                <a16:creationId xmlns:a16="http://schemas.microsoft.com/office/drawing/2014/main" id="{570138C7-BA98-4CA8-9243-3D6F8D9556C4}"/>
              </a:ext>
            </a:extLst>
          </p:cNvPr>
          <p:cNvSpPr>
            <a:spLocks xmlns:a="http://schemas.openxmlformats.org/drawingml/2006/main" noGrp="1"/>
          </p:cNvSpPr>
          <p:nvPr/>
        </p:nvSpPr>
        <p:spPr>
          <a:xfrm xmlns:a="http://schemas.openxmlformats.org/drawingml/2006/main">
            <a:off x="3810000" y="4876800"/>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Show call summaries, quote enquiries, visit status and the next action in one workspace.</a:t>
            </a:r>
          </a:p>
        </p:txBody>
      </p:sp>
    </p:spTree>
    <p:extLst>
      <p:ext uri="{BB962C8B-B14F-4D97-AF65-F5344CB8AC3E}">
        <p14:creationId xmlns:p14="http://schemas.microsoft.com/office/powerpoint/2010/main" val="6512974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A6E50263-5300-444E-988C-0C3EB1FFA136}"/>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he customer workspace">
            <a:extLst xmlns:a="http://schemas.openxmlformats.org/drawingml/2006/main">
              <a:ext uri="{FF2B5EF4-FFF2-40B4-BE49-F238E27FC236}">
                <a16:creationId xmlns:a16="http://schemas.microsoft.com/office/drawing/2014/main" id="{D11B8931-197B-485F-841E-1A70DDCF469A}"/>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The customer workspace</a:t>
            </a:r>
          </a:p>
        </p:txBody>
      </p:sp>
      <p:sp>
        <p:nvSpPr>
          <p:cNvPr id="3" name="The overview customers see after login">
            <a:extLst xmlns:a="http://schemas.openxmlformats.org/drawingml/2006/main">
              <a:ext uri="{FF2B5EF4-FFF2-40B4-BE49-F238E27FC236}">
                <a16:creationId xmlns:a16="http://schemas.microsoft.com/office/drawing/2014/main" id="{5DA17540-A044-4899-AF3B-EC4605BD377F}"/>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A solar team sees enquiries, site visits and recent conversations</a:t>
            </a:r>
          </a:p>
        </p:txBody>
      </p:sp>
      <p:sp>
        <p:nvSpPr>
          <p:cNvPr id="4" name="Interface concept with sample data. The local">
            <a:extLst xmlns:a="http://schemas.openxmlformats.org/drawingml/2006/main">
              <a:ext uri="{FF2B5EF4-FFF2-40B4-BE49-F238E27FC236}">
                <a16:creationId xmlns:a16="http://schemas.microsoft.com/office/drawing/2014/main" id="{39265941-186C-4079-8995-198F91D5159F}"/>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Interface concept with fictional solar data. Authentication and external calendars are not connected.</a:t>
            </a:r>
          </a:p>
        </p:txBody>
      </p:sp>
      <p:sp>
        <p:nvSpPr>
          <p:cNvPr id="5" name="05">
            <a:extLst xmlns:a="http://schemas.openxmlformats.org/drawingml/2006/main">
              <a:ext uri="{FF2B5EF4-FFF2-40B4-BE49-F238E27FC236}">
                <a16:creationId xmlns:a16="http://schemas.microsoft.com/office/drawing/2014/main" id="{867467BE-52E7-4D32-BAD9-76882B498609}"/>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04</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e7e63dad1ed54804"/>
          <a:stretch xmlns:a="http://schemas.openxmlformats.org/drawingml/2006/main"/>
        </p:blipFill>
        <p:spPr>
          <a:xfrm xmlns:a="http://schemas.openxmlformats.org/drawingml/2006/main">
            <a:off x="1901916" y="1485900"/>
            <a:ext cx="6006917" cy="4638675"/>
          </a:xfrm>
          <a:prstGeom xmlns:a="http://schemas.openxmlformats.org/drawingml/2006/main" prst="rect">
            <a:avLst/>
          </a:prstGeom>
        </p:spPr>
      </p:pic>
      <p:sp>
        <p:nvSpPr>
          <p:cNvPr id="7" name="One place to check">
            <a:extLst xmlns:a="http://schemas.openxmlformats.org/drawingml/2006/main">
              <a:ext uri="{FF2B5EF4-FFF2-40B4-BE49-F238E27FC236}">
                <a16:creationId xmlns:a16="http://schemas.microsoft.com/office/drawing/2014/main" id="{A0A1FBF8-4B21-4078-A718-3B9D05558DE0}"/>
              </a:ext>
            </a:extLst>
          </p:cNvPr>
          <p:cNvSpPr>
            <a:spLocks xmlns:a="http://schemas.openxmlformats.org/drawingml/2006/main" noGrp="1"/>
          </p:cNvSpPr>
          <p:nvPr/>
        </p:nvSpPr>
        <p:spPr>
          <a:xfrm xmlns:a="http://schemas.openxmlformats.org/drawingml/2006/main">
            <a:off x="9286875" y="1962150"/>
            <a:ext cx="233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One place to check</a:t>
            </a:r>
          </a:p>
        </p:txBody>
      </p:sp>
      <p:sp>
        <p:nvSpPr>
          <p:cNvPr id="8" name="Call activity&#10;&#10;Callback requests&#10;&#10;Agent statu">
            <a:extLst xmlns:a="http://schemas.openxmlformats.org/drawingml/2006/main">
              <a:ext uri="{FF2B5EF4-FFF2-40B4-BE49-F238E27FC236}">
                <a16:creationId xmlns:a16="http://schemas.microsoft.com/office/drawing/2014/main" id="{FCB8CC6A-58A1-4EA0-9916-C20D263B21C9}"/>
              </a:ext>
            </a:extLst>
          </p:cNvPr>
          <p:cNvSpPr>
            <a:spLocks xmlns:a="http://schemas.openxmlformats.org/drawingml/2006/main" noGrp="1"/>
          </p:cNvSpPr>
          <p:nvPr/>
        </p:nvSpPr>
        <p:spPr>
          <a:xfrm xmlns:a="http://schemas.openxmlformats.org/drawingml/2006/main">
            <a:off x="9286875" y="2847975"/>
            <a:ext cx="2333625" cy="2962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725" b="0">
                <a:solidFill>
                  <a:srgbClr val="111111"/>
                </a:solidFill>
                <a:latin typeface="Segoe UI"/>
                <a:ea typeface="Segoe UI"/>
                <a:cs typeface="Segoe UI"/>
              </a:defRPr>
            </a:pPr>
            <a:r>
              <a:rPr sz="1725" b="0">
                <a:solidFill>
                  <a:srgbClr val="111111"/>
                </a:solidFill>
                <a:latin typeface="Segoe UI"/>
                <a:ea typeface="Segoe UI"/>
                <a:cs typeface="Segoe UI"/>
              </a:rPr>
              <a:t>Quote enquiries</a:t>
            </a:r>
          </a:p>
          <a:p xmlns:a="http://schemas.openxmlformats.org/drawingml/2006/main">
            <a:r>
              <a:t/>
            </a:r>
            <a:endParaRPr sz="1725" b="0">
              <a:solidFill>
                <a:srgbClr val="111111"/>
              </a:solidFill>
              <a:latin typeface="Segoe UI"/>
              <a:ea typeface="Segoe UI"/>
              <a:cs typeface="Segoe UI"/>
            </a:endParaRPr>
          </a:p>
          <a:p xmlns:a="http://schemas.openxmlformats.org/drawingml/2006/main">
            <a:pPr>
              <a:buNone/>
              <a:defRPr sz="1725" b="0">
                <a:solidFill>
                  <a:srgbClr val="111111"/>
                </a:solidFill>
                <a:latin typeface="Segoe UI"/>
                <a:ea typeface="Segoe UI"/>
                <a:cs typeface="Segoe UI"/>
              </a:defRPr>
            </a:pPr>
            <a:r>
              <a:rPr sz="1725" b="0">
                <a:solidFill>
                  <a:srgbClr val="111111"/>
                </a:solidFill>
                <a:latin typeface="Segoe UI"/>
                <a:ea typeface="Segoe UI"/>
                <a:cs typeface="Segoe UI"/>
              </a:rPr>
              <a:t>Site visits</a:t>
            </a:r>
          </a:p>
          <a:p xmlns:a="http://schemas.openxmlformats.org/drawingml/2006/main">
            <a:r>
              <a:t/>
            </a:r>
            <a:endParaRPr sz="1725" b="0">
              <a:solidFill>
                <a:srgbClr val="111111"/>
              </a:solidFill>
              <a:latin typeface="Segoe UI"/>
              <a:ea typeface="Segoe UI"/>
              <a:cs typeface="Segoe UI"/>
            </a:endParaRPr>
          </a:p>
          <a:p xmlns:a="http://schemas.openxmlformats.org/drawingml/2006/main">
            <a:pPr>
              <a:buNone/>
              <a:defRPr sz="1725" b="0">
                <a:solidFill>
                  <a:srgbClr val="111111"/>
                </a:solidFill>
                <a:latin typeface="Segoe UI"/>
                <a:ea typeface="Segoe UI"/>
                <a:cs typeface="Segoe UI"/>
              </a:defRPr>
            </a:pPr>
            <a:r>
              <a:rPr sz="1725" b="0">
                <a:solidFill>
                  <a:srgbClr val="111111"/>
                </a:solidFill>
                <a:latin typeface="Segoe UI"/>
                <a:ea typeface="Segoe UI"/>
                <a:cs typeface="Segoe UI"/>
              </a:rPr>
              <a:t>Agent status</a:t>
            </a:r>
          </a:p>
          <a:p xmlns:a="http://schemas.openxmlformats.org/drawingml/2006/main">
            <a:r>
              <a:t/>
            </a:r>
            <a:endParaRPr sz="1725" b="0">
              <a:solidFill>
                <a:srgbClr val="111111"/>
              </a:solidFill>
              <a:latin typeface="Segoe UI"/>
              <a:ea typeface="Segoe UI"/>
              <a:cs typeface="Segoe UI"/>
            </a:endParaRPr>
          </a:p>
          <a:p xmlns:a="http://schemas.openxmlformats.org/drawingml/2006/main">
            <a:pPr>
              <a:buNone/>
              <a:defRPr sz="1725" b="0">
                <a:solidFill>
                  <a:srgbClr val="111111"/>
                </a:solidFill>
                <a:latin typeface="Segoe UI"/>
                <a:ea typeface="Segoe UI"/>
                <a:cs typeface="Segoe UI"/>
              </a:defRPr>
            </a:pPr>
            <a:r>
              <a:rPr sz="1725" b="0">
                <a:solidFill>
                  <a:srgbClr val="111111"/>
                </a:solidFill>
                <a:latin typeface="Segoe UI"/>
                <a:ea typeface="Segoe UI"/>
                <a:cs typeface="Segoe UI"/>
              </a:rPr>
              <a:t>Recent conversations</a:t>
            </a:r>
          </a:p>
        </p:txBody>
      </p:sp>
    </p:spTree>
    <p:extLst>
      <p:ext uri="{BB962C8B-B14F-4D97-AF65-F5344CB8AC3E}">
        <p14:creationId xmlns:p14="http://schemas.microsoft.com/office/powerpoint/2010/main" val="14677478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0E8C755C-3964-4803-8DDE-CF95B6315D77}"/>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Agent setup and testing">
            <a:extLst xmlns:a="http://schemas.openxmlformats.org/drawingml/2006/main">
              <a:ext uri="{FF2B5EF4-FFF2-40B4-BE49-F238E27FC236}">
                <a16:creationId xmlns:a16="http://schemas.microsoft.com/office/drawing/2014/main" id="{69FEE855-E8E9-4393-B2EB-0CA588963BF6}"/>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Agent setup and testing</a:t>
            </a:r>
          </a:p>
        </p:txBody>
      </p:sp>
      <p:sp>
        <p:nvSpPr>
          <p:cNvPr id="3" name="A guided path from a business description to ">
            <a:extLst xmlns:a="http://schemas.openxmlformats.org/drawingml/2006/main">
              <a:ext uri="{FF2B5EF4-FFF2-40B4-BE49-F238E27FC236}">
                <a16:creationId xmlns:a16="http://schemas.microsoft.com/office/drawing/2014/main" id="{865F4332-5F9F-452B-906A-37B7538AB646}"/>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Solar business instructions and a sample enquiry</a:t>
            </a:r>
          </a:p>
        </p:txBody>
      </p:sp>
      <p:sp>
        <p:nvSpPr>
          <p:cNvPr id="4" name="Working local controls. AI assistance and liv">
            <a:extLst xmlns:a="http://schemas.openxmlformats.org/drawingml/2006/main">
              <a:ext uri="{FF2B5EF4-FFF2-40B4-BE49-F238E27FC236}">
                <a16:creationId xmlns:a16="http://schemas.microsoft.com/office/drawing/2014/main" id="{2D62E7B5-22D0-4846-8688-E3F607EDA702}"/>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Working prototype controls. AI assistance, live voice and calendar bookings are simulated.</a:t>
            </a:r>
          </a:p>
        </p:txBody>
      </p:sp>
      <p:sp>
        <p:nvSpPr>
          <p:cNvPr id="5" name="06">
            <a:extLst xmlns:a="http://schemas.openxmlformats.org/drawingml/2006/main">
              <a:ext uri="{FF2B5EF4-FFF2-40B4-BE49-F238E27FC236}">
                <a16:creationId xmlns:a16="http://schemas.microsoft.com/office/drawing/2014/main" id="{5776C19C-A224-4CA4-B118-0C362E82AB11}"/>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05</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148ee004323948ae"/>
          <a:stretch xmlns:a="http://schemas.openxmlformats.org/drawingml/2006/main"/>
        </p:blipFill>
        <p:spPr>
          <a:xfrm xmlns:a="http://schemas.openxmlformats.org/drawingml/2006/main">
            <a:off x="1068717" y="1562100"/>
            <a:ext cx="6244565" cy="4514850"/>
          </a:xfrm>
          <a:prstGeom xmlns:a="http://schemas.openxmlformats.org/drawingml/2006/main" prst="rect">
            <a:avLst/>
          </a:prstGeom>
        </p:spPr>
      </p:pic>
      <p:sp>
        <p:nvSpPr>
          <p:cNvPr id="7" name="The customer can">
            <a:extLst xmlns:a="http://schemas.openxmlformats.org/drawingml/2006/main">
              <a:ext uri="{FF2B5EF4-FFF2-40B4-BE49-F238E27FC236}">
                <a16:creationId xmlns:a16="http://schemas.microsoft.com/office/drawing/2014/main" id="{FE2CF699-BFE1-4605-9FAC-AB71705D717A}"/>
              </a:ext>
            </a:extLst>
          </p:cNvPr>
          <p:cNvSpPr>
            <a:spLocks xmlns:a="http://schemas.openxmlformats.org/drawingml/2006/main" noGrp="1"/>
          </p:cNvSpPr>
          <p:nvPr/>
        </p:nvSpPr>
        <p:spPr>
          <a:xfrm xmlns:a="http://schemas.openxmlformats.org/drawingml/2006/main">
            <a:off x="8143875" y="18478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111111"/>
                </a:solidFill>
                <a:latin typeface="Segoe UI"/>
                <a:ea typeface="Segoe UI"/>
                <a:cs typeface="Segoe UI"/>
              </a:defRPr>
            </a:pPr>
            <a:r>
              <a:rPr sz="2100" b="1">
                <a:solidFill>
                  <a:srgbClr val="111111"/>
                </a:solidFill>
                <a:latin typeface="Segoe UI"/>
                <a:ea typeface="Segoe UI"/>
                <a:cs typeface="Segoe UI"/>
              </a:rPr>
              <a:t>The customer can</a:t>
            </a:r>
          </a:p>
        </p:txBody>
      </p:sp>
      <p:sp>
        <p:nvSpPr>
          <p:cNvPr id="8" name="Choose an agent’s role.&#10;&#10;Describe the busines">
            <a:extLst xmlns:a="http://schemas.openxmlformats.org/drawingml/2006/main">
              <a:ext uri="{FF2B5EF4-FFF2-40B4-BE49-F238E27FC236}">
                <a16:creationId xmlns:a16="http://schemas.microsoft.com/office/drawing/2014/main" id="{71D51E76-4EF3-44B2-AE94-0A521532EFED}"/>
              </a:ext>
            </a:extLst>
          </p:cNvPr>
          <p:cNvSpPr>
            <a:spLocks xmlns:a="http://schemas.openxmlformats.org/drawingml/2006/main" noGrp="1"/>
          </p:cNvSpPr>
          <p:nvPr/>
        </p:nvSpPr>
        <p:spPr>
          <a:xfrm xmlns:a="http://schemas.openxmlformats.org/drawingml/2006/main">
            <a:off x="8143875" y="2533650"/>
            <a:ext cx="3429000" cy="322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Choose a solar agent role.</a:t>
            </a:r>
          </a:p>
          <a:p xmlns:a="http://schemas.openxmlformats.org/drawingml/2006/main">
            <a:r>
              <a:t/>
            </a:r>
            <a:endParaRPr sz="1875" b="0">
              <a:solidFill>
                <a:srgbClr val="111111"/>
              </a:solidFill>
              <a:latin typeface="Segoe UI"/>
              <a:ea typeface="Segoe UI"/>
              <a:cs typeface="Segoe UI"/>
            </a:endParaRPr>
          </a:p>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Describe the service area.</a:t>
            </a:r>
          </a:p>
          <a:p xmlns:a="http://schemas.openxmlformats.org/drawingml/2006/main">
            <a:r>
              <a:t/>
            </a:r>
            <a:endParaRPr sz="1875" b="0">
              <a:solidFill>
                <a:srgbClr val="111111"/>
              </a:solidFill>
              <a:latin typeface="Segoe UI"/>
              <a:ea typeface="Segoe UI"/>
              <a:cs typeface="Segoe UI"/>
            </a:endParaRPr>
          </a:p>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Review booking rules.</a:t>
            </a:r>
          </a:p>
          <a:p xmlns:a="http://schemas.openxmlformats.org/drawingml/2006/main">
            <a:r>
              <a:t/>
            </a:r>
            <a:endParaRPr sz="1875" b="0">
              <a:solidFill>
                <a:srgbClr val="111111"/>
              </a:solidFill>
              <a:latin typeface="Segoe UI"/>
              <a:ea typeface="Segoe UI"/>
              <a:cs typeface="Segoe UI"/>
            </a:endParaRPr>
          </a:p>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Try a quote enquiry.</a:t>
            </a:r>
          </a:p>
        </p:txBody>
      </p:sp>
    </p:spTree>
    <p:extLst>
      <p:ext uri="{BB962C8B-B14F-4D97-AF65-F5344CB8AC3E}">
        <p14:creationId xmlns:p14="http://schemas.microsoft.com/office/powerpoint/2010/main" val="20118356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7DC32518-5DBA-42BE-AEB4-AD551B0977E6}"/>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A useful record after every call">
            <a:extLst xmlns:a="http://schemas.openxmlformats.org/drawingml/2006/main">
              <a:ext uri="{FF2B5EF4-FFF2-40B4-BE49-F238E27FC236}">
                <a16:creationId xmlns:a16="http://schemas.microsoft.com/office/drawing/2014/main" id="{3437A164-0B8C-4BE2-B16B-5EFDD08C4F3D}"/>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Solar enquiries and next steps</a:t>
            </a:r>
          </a:p>
        </p:txBody>
      </p:sp>
      <p:sp>
        <p:nvSpPr>
          <p:cNvPr id="3" name="The team can see what happened and what to do">
            <a:extLst xmlns:a="http://schemas.openxmlformats.org/drawingml/2006/main">
              <a:ext uri="{FF2B5EF4-FFF2-40B4-BE49-F238E27FC236}">
                <a16:creationId xmlns:a16="http://schemas.microsoft.com/office/drawing/2014/main" id="{1C65CF67-7720-4FAD-91B3-A520B40CB3DD}"/>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Quotes, site visits, callbacks and questions for the solar team</a:t>
            </a:r>
          </a:p>
        </p:txBody>
      </p:sp>
      <p:sp>
        <p:nvSpPr>
          <p:cNvPr id="4" name="Fictional call records. A callback request is">
            <a:extLst xmlns:a="http://schemas.openxmlformats.org/drawingml/2006/main">
              <a:ext uri="{FF2B5EF4-FFF2-40B4-BE49-F238E27FC236}">
                <a16:creationId xmlns:a16="http://schemas.microsoft.com/office/drawing/2014/main" id="{11A2EBEE-246C-49FE-AF26-A2E48616C622}"/>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Fictional records. A requested site visit requires confirmation. A booked visit is still not a completed installation.</a:t>
            </a:r>
          </a:p>
        </p:txBody>
      </p:sp>
      <p:sp>
        <p:nvSpPr>
          <p:cNvPr id="5" name="07">
            <a:extLst xmlns:a="http://schemas.openxmlformats.org/drawingml/2006/main">
              <a:ext uri="{FF2B5EF4-FFF2-40B4-BE49-F238E27FC236}">
                <a16:creationId xmlns:a16="http://schemas.microsoft.com/office/drawing/2014/main" id="{8A7E1C12-7E00-471A-A299-EC094EC2D07C}"/>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06</a:t>
            </a: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6224530b2af64ea1"/>
          <a:stretch xmlns:a="http://schemas.openxmlformats.org/drawingml/2006/main"/>
        </p:blipFill>
        <p:spPr>
          <a:xfrm xmlns:a="http://schemas.openxmlformats.org/drawingml/2006/main">
            <a:off x="2834328" y="1600200"/>
            <a:ext cx="6523344" cy="3914775"/>
          </a:xfrm>
          <a:prstGeom xmlns:a="http://schemas.openxmlformats.org/drawingml/2006/main" prst="rect">
            <a:avLst/>
          </a:prstGeom>
        </p:spPr>
      </p:pic>
      <p:sp>
        <p:nvSpPr>
          <p:cNvPr id="7" name="Search the history. Read the summary. Follow ">
            <a:extLst xmlns:a="http://schemas.openxmlformats.org/drawingml/2006/main">
              <a:ext uri="{FF2B5EF4-FFF2-40B4-BE49-F238E27FC236}">
                <a16:creationId xmlns:a16="http://schemas.microsoft.com/office/drawing/2014/main" id="{4552E449-3849-4C04-B01D-22E090CB1A92}"/>
              </a:ext>
            </a:extLst>
          </p:cNvPr>
          <p:cNvSpPr>
            <a:spLocks xmlns:a="http://schemas.openxmlformats.org/drawingml/2006/main" noGrp="1"/>
          </p:cNvSpPr>
          <p:nvPr/>
        </p:nvSpPr>
        <p:spPr>
          <a:xfrm xmlns:a="http://schemas.openxmlformats.org/drawingml/2006/main">
            <a:off x="571500" y="574357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111111"/>
                </a:solidFill>
                <a:latin typeface="Segoe UI"/>
                <a:ea typeface="Segoe UI"/>
                <a:cs typeface="Segoe UI"/>
              </a:defRPr>
            </a:pPr>
            <a:r>
              <a:rPr sz="1950" b="0">
                <a:solidFill>
                  <a:srgbClr val="111111"/>
                </a:solidFill>
                <a:latin typeface="Segoe UI"/>
                <a:ea typeface="Segoe UI"/>
                <a:cs typeface="Segoe UI"/>
              </a:rPr>
              <a:t>Search solar enquiries. Read the conversation. See the next action.</a:t>
            </a:r>
          </a:p>
        </p:txBody>
      </p:sp>
    </p:spTree>
    <p:extLst>
      <p:ext uri="{BB962C8B-B14F-4D97-AF65-F5344CB8AC3E}">
        <p14:creationId xmlns:p14="http://schemas.microsoft.com/office/powerpoint/2010/main" val="18416894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9374810-8604-4831-9A18-D6C13FA5F2C4}"/>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A simple pricing model">
            <a:extLst xmlns:a="http://schemas.openxmlformats.org/drawingml/2006/main">
              <a:ext uri="{FF2B5EF4-FFF2-40B4-BE49-F238E27FC236}">
                <a16:creationId xmlns:a16="http://schemas.microsoft.com/office/drawing/2014/main" id="{C7E2736D-D7F6-426B-B211-A1D4883BD733}"/>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A simple pricing model</a:t>
            </a:r>
          </a:p>
        </p:txBody>
      </p:sp>
      <p:sp>
        <p:nvSpPr>
          <p:cNvPr id="3" name="Illustrative AUD prices, excluding GST">
            <a:extLst xmlns:a="http://schemas.openxmlformats.org/drawingml/2006/main">
              <a:ext uri="{FF2B5EF4-FFF2-40B4-BE49-F238E27FC236}">
                <a16:creationId xmlns:a16="http://schemas.microsoft.com/office/drawing/2014/main" id="{DB8E0289-259E-418E-ACFA-1B27BFD2705F}"/>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Illustrative AUD prices, excluding GST</a:t>
            </a:r>
          </a:p>
        </p:txBody>
      </p:sp>
      <p:sp>
        <p:nvSpPr>
          <p:cNvPr id="4" name="Working prices to validate with customers and">
            <a:extLst xmlns:a="http://schemas.openxmlformats.org/drawingml/2006/main">
              <a:ext uri="{FF2B5EF4-FFF2-40B4-BE49-F238E27FC236}">
                <a16:creationId xmlns:a16="http://schemas.microsoft.com/office/drawing/2014/main" id="{DE6C4B8E-FAE7-44BA-8063-8A7B5ADC43D0}"/>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Working prices to validate with customers and suppliers before launch.</a:t>
            </a:r>
          </a:p>
        </p:txBody>
      </p:sp>
      <p:sp>
        <p:nvSpPr>
          <p:cNvPr id="5" name="08">
            <a:extLst xmlns:a="http://schemas.openxmlformats.org/drawingml/2006/main">
              <a:ext uri="{FF2B5EF4-FFF2-40B4-BE49-F238E27FC236}">
                <a16:creationId xmlns:a16="http://schemas.microsoft.com/office/drawing/2014/main" id="{8B6140C2-C539-4AC7-8668-9ACB997883FF}"/>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07</a:t>
            </a:r>
          </a:p>
        </p:txBody>
      </p:sp>
      <p:graphicFrame>
        <p:nvGraphicFramePr>
          <p:cNvPr id="17" name="Table 14"/>
          <p:cNvGraphicFramePr/>
          <p:nvPr/>
        </p:nvGraphicFramePr>
        <p:xfrm>
          <a:off xmlns:a="http://schemas.openxmlformats.org/drawingml/2006/main" x="571500" y="1724025"/>
          <a:ext xmlns:a="http://schemas.openxmlformats.org/drawingml/2006/main" cx="11049000" cy="2952750"/>
        </p:xfrm>
        <a:graphic xmlns:a="http://schemas.openxmlformats.org/drawingml/2006/main">
          <a:graphicData uri="http://schemas.openxmlformats.org/drawingml/2006/table">
            <a:tbl>
              <a:tblPr/>
              <a:tblGrid>
                <a:gridCol w="3476625"/>
                <a:gridCol w="2524125"/>
                <a:gridCol w="2524125"/>
                <a:gridCol w="2524125"/>
              </a:tblGrid>
              <a:tr h="590550">
                <a:tc>
                  <a:txBody>
                    <a:bodyPr/>
                    <a:lstStyle/>
                    <a:p>
                      <a:r>
                        <a:rPr sz="1875" b="1">
                          <a:solidFill>
                            <a:srgbClr val="F6E5A6"/>
                          </a:solidFill>
                          <a:latin typeface="Segoe UI"/>
                          <a:ea typeface="Segoe UI"/>
                          <a:cs typeface="Segoe UI"/>
                        </a:rPr>
                        <a:t>Monthly plan</a:t>
                      </a:r>
                    </a:p>
                  </a:txBody>
                  <a:tcPr marL="152400" marR="152400" marT="104775" marB="104775" anchor="ctr">
                    <a:solidFill>
                      <a:srgbClr val="142B4B"/>
                    </a:solidFill>
                  </a:tcPr>
                </a:tc>
                <a:tc>
                  <a:txBody>
                    <a:bodyPr/>
                    <a:lstStyle/>
                    <a:p>
                      <a:r>
                        <a:rPr sz="1875" b="1">
                          <a:solidFill>
                            <a:srgbClr val="F6E5A6"/>
                          </a:solidFill>
                          <a:latin typeface="Segoe UI"/>
                          <a:ea typeface="Segoe UI"/>
                          <a:cs typeface="Segoe UI"/>
                        </a:rPr>
                        <a:t>Starter</a:t>
                      </a:r>
                    </a:p>
                  </a:txBody>
                  <a:tcPr marL="152400" marR="152400" marT="104775" marB="104775" anchor="ctr">
                    <a:solidFill>
                      <a:srgbClr val="142B4B"/>
                    </a:solidFill>
                  </a:tcPr>
                </a:tc>
                <a:tc>
                  <a:txBody>
                    <a:bodyPr/>
                    <a:lstStyle/>
                    <a:p>
                      <a:r>
                        <a:rPr sz="1875" b="1">
                          <a:solidFill>
                            <a:srgbClr val="F6E5A6"/>
                          </a:solidFill>
                          <a:latin typeface="Segoe UI"/>
                          <a:ea typeface="Segoe UI"/>
                          <a:cs typeface="Segoe UI"/>
                        </a:rPr>
                        <a:t>Growth</a:t>
                      </a:r>
                    </a:p>
                  </a:txBody>
                  <a:tcPr marL="152400" marR="152400" marT="104775" marB="104775" anchor="ctr">
                    <a:solidFill>
                      <a:srgbClr val="142B4B"/>
                    </a:solidFill>
                  </a:tcPr>
                </a:tc>
                <a:tc>
                  <a:txBody>
                    <a:bodyPr/>
                    <a:lstStyle/>
                    <a:p>
                      <a:r>
                        <a:rPr sz="1875" b="1">
                          <a:solidFill>
                            <a:srgbClr val="F6E5A6"/>
                          </a:solidFill>
                          <a:latin typeface="Segoe UI"/>
                          <a:ea typeface="Segoe UI"/>
                          <a:cs typeface="Segoe UI"/>
                        </a:rPr>
                        <a:t>Scale</a:t>
                      </a:r>
                    </a:p>
                  </a:txBody>
                  <a:tcPr marL="152400" marR="152400" marT="104775" marB="104775" anchor="ctr">
                    <a:solidFill>
                      <a:srgbClr val="142B4B"/>
                    </a:solidFill>
                  </a:tcPr>
                </a:tc>
              </a:tr>
              <a:tr h="590550">
                <a:tc>
                  <a:txBody>
                    <a:bodyPr/>
                    <a:lstStyle/>
                    <a:p>
                      <a:r>
                        <a:rPr sz="1875">
                          <a:solidFill>
                            <a:srgbClr val="111111"/>
                          </a:solidFill>
                          <a:latin typeface="Segoe UI"/>
                          <a:ea typeface="Segoe UI"/>
                          <a:cs typeface="Segoe UI"/>
                        </a:rPr>
                        <a:t>Subscription</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$399</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$799</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$1,499</a:t>
                      </a:r>
                    </a:p>
                  </a:txBody>
                  <a:tcPr marL="152400" marR="152400" marT="104775" marB="104775" anchor="ctr">
                    <a:solidFill>
                      <a:srgbClr val="FFFFFF"/>
                    </a:solidFill>
                  </a:tcPr>
                </a:tc>
              </a:tr>
              <a:tr h="590550">
                <a:tc>
                  <a:txBody>
                    <a:bodyPr/>
                    <a:lstStyle/>
                    <a:p>
                      <a:r>
                        <a:rPr sz="1875">
                          <a:solidFill>
                            <a:srgbClr val="111111"/>
                          </a:solidFill>
                          <a:latin typeface="Segoe UI"/>
                          <a:ea typeface="Segoe UI"/>
                          <a:cs typeface="Segoe UI"/>
                        </a:rPr>
                        <a:t>Included minutes</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500</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1,500</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3,500</a:t>
                      </a:r>
                    </a:p>
                  </a:txBody>
                  <a:tcPr marL="152400" marR="152400" marT="104775" marB="104775" anchor="ctr">
                    <a:solidFill>
                      <a:srgbClr val="FFFFFF"/>
                    </a:solidFill>
                  </a:tcPr>
                </a:tc>
              </a:tr>
              <a:tr h="590550">
                <a:tc>
                  <a:txBody>
                    <a:bodyPr/>
                    <a:lstStyle/>
                    <a:p>
                      <a:r>
                        <a:rPr sz="1875">
                          <a:solidFill>
                            <a:srgbClr val="111111"/>
                          </a:solidFill>
                          <a:latin typeface="Segoe UI"/>
                          <a:ea typeface="Segoe UI"/>
                          <a:cs typeface="Segoe UI"/>
                        </a:rPr>
                        <a:t>Voice agents</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1</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3</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5</a:t>
                      </a:r>
                    </a:p>
                  </a:txBody>
                  <a:tcPr marL="152400" marR="152400" marT="104775" marB="104775" anchor="ctr">
                    <a:solidFill>
                      <a:srgbClr val="FFFFFF"/>
                    </a:solidFill>
                  </a:tcPr>
                </a:tc>
              </a:tr>
              <a:tr h="590550">
                <a:tc>
                  <a:txBody>
                    <a:bodyPr/>
                    <a:lstStyle/>
                    <a:p>
                      <a:r>
                        <a:rPr sz="1875">
                          <a:solidFill>
                            <a:srgbClr val="111111"/>
                          </a:solidFill>
                          <a:latin typeface="Segoe UI"/>
                          <a:ea typeface="Segoe UI"/>
                          <a:cs typeface="Segoe UI"/>
                        </a:rPr>
                        <a:t>Additional minute</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$0.35</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$0.30</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$0.25</a:t>
                      </a:r>
                    </a:p>
                  </a:txBody>
                  <a:tcPr marL="152400" marR="152400" marT="104775" marB="104775" anchor="ctr">
                    <a:solidFill>
                      <a:srgbClr val="FFFFFF"/>
                    </a:solidFill>
                  </a:tcPr>
                </a:tc>
              </a:tr>
            </a:tbl>
          </a:graphicData>
        </a:graphic>
      </p:graphicFrame>
      <p:sp>
        <p:nvSpPr>
          <p:cNvPr id="7" name="$799 one-off setup">
            <a:extLst xmlns:a="http://schemas.openxmlformats.org/drawingml/2006/main">
              <a:ext uri="{FF2B5EF4-FFF2-40B4-BE49-F238E27FC236}">
                <a16:creationId xmlns:a16="http://schemas.microsoft.com/office/drawing/2014/main" id="{5D9F0CD3-9267-4158-A5DA-13FA3A7E068F}"/>
              </a:ext>
            </a:extLst>
          </p:cNvPr>
          <p:cNvSpPr>
            <a:spLocks xmlns:a="http://schemas.openxmlformats.org/drawingml/2006/main" noGrp="1"/>
          </p:cNvSpPr>
          <p:nvPr/>
        </p:nvSpPr>
        <p:spPr>
          <a:xfrm xmlns:a="http://schemas.openxmlformats.org/drawingml/2006/main">
            <a:off x="571500" y="49339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$799 one-off setup</a:t>
            </a:r>
          </a:p>
        </p:txBody>
      </p:sp>
      <p:sp>
        <p:nvSpPr>
          <p:cNvPr id="8" name="One standard agent setup and handover.&#10;Additi">
            <a:extLst xmlns:a="http://schemas.openxmlformats.org/drawingml/2006/main">
              <a:ext uri="{FF2B5EF4-FFF2-40B4-BE49-F238E27FC236}">
                <a16:creationId xmlns:a16="http://schemas.microsoft.com/office/drawing/2014/main" id="{FF366B3A-E505-48E7-B097-137C98C5B33F}"/>
              </a:ext>
            </a:extLst>
          </p:cNvPr>
          <p:cNvSpPr>
            <a:spLocks xmlns:a="http://schemas.openxmlformats.org/drawingml/2006/main" noGrp="1"/>
          </p:cNvSpPr>
          <p:nvPr/>
        </p:nvSpPr>
        <p:spPr>
          <a:xfrm xmlns:a="http://schemas.openxmlformats.org/drawingml/2006/main">
            <a:off x="4048125" y="49053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11111"/>
                </a:solidFill>
                <a:latin typeface="Segoe UI"/>
                <a:ea typeface="Segoe UI"/>
                <a:cs typeface="Segoe UI"/>
              </a:defRPr>
            </a:pPr>
            <a:r>
              <a:rPr sz="1800" b="0">
                <a:solidFill>
                  <a:srgbClr val="111111"/>
                </a:solidFill>
                <a:latin typeface="Segoe UI"/>
                <a:ea typeface="Segoe UI"/>
                <a:cs typeface="Segoe UI"/>
              </a:rPr>
              <a:t>Solar agent setup, testing and team handover.</a:t>
            </a:r>
          </a:p>
          <a:p xmlns:a="http://schemas.openxmlformats.org/drawingml/2006/main">
            <a:pPr>
              <a:buNone/>
              <a:defRPr sz="1800" b="0">
                <a:solidFill>
                  <a:srgbClr val="111111"/>
                </a:solidFill>
                <a:latin typeface="Segoe UI"/>
                <a:ea typeface="Segoe UI"/>
                <a:cs typeface="Segoe UI"/>
              </a:defRPr>
            </a:pPr>
            <a:r>
              <a:rPr sz="1800" b="0">
                <a:solidFill>
                  <a:srgbClr val="111111"/>
                </a:solidFill>
                <a:latin typeface="Segoe UI"/>
                <a:ea typeface="Segoe UI"/>
                <a:cs typeface="Segoe UI"/>
              </a:rPr>
              <a:t>Calendar connections scoped separately.</a:t>
            </a:r>
          </a:p>
        </p:txBody>
      </p:sp>
      <p:sp>
        <p:nvSpPr>
          <p:cNvPr id="9" name="Example: Growth with 1,800 minutes costs $889">
            <a:extLst xmlns:a="http://schemas.openxmlformats.org/drawingml/2006/main">
              <a:ext uri="{FF2B5EF4-FFF2-40B4-BE49-F238E27FC236}">
                <a16:creationId xmlns:a16="http://schemas.microsoft.com/office/drawing/2014/main" id="{123ED118-FDBB-430D-BA32-36BB5FBCC8D1}"/>
              </a:ext>
            </a:extLst>
          </p:cNvPr>
          <p:cNvSpPr>
            <a:spLocks xmlns:a="http://schemas.openxmlformats.org/drawingml/2006/main" noGrp="1"/>
          </p:cNvSpPr>
          <p:nvPr/>
        </p:nvSpPr>
        <p:spPr>
          <a:xfrm xmlns:a="http://schemas.openxmlformats.org/drawingml/2006/main">
            <a:off x="571500" y="58293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11111"/>
                </a:solidFill>
                <a:latin typeface="Segoe UI"/>
                <a:ea typeface="Segoe UI"/>
                <a:cs typeface="Segoe UI"/>
              </a:defRPr>
            </a:pPr>
            <a:r>
              <a:rPr sz="1800" b="0">
                <a:solidFill>
                  <a:srgbClr val="111111"/>
                </a:solidFill>
                <a:latin typeface="Segoe UI"/>
                <a:ea typeface="Segoe UI"/>
                <a:cs typeface="Segoe UI"/>
              </a:rPr>
              <a:t>Growth first month: $799 subscription + $799 setup = $1,598.</a:t>
            </a:r>
          </a:p>
        </p:txBody>
      </p:sp>
    </p:spTree>
    <p:extLst>
      <p:ext uri="{BB962C8B-B14F-4D97-AF65-F5344CB8AC3E}">
        <p14:creationId xmlns:p14="http://schemas.microsoft.com/office/powerpoint/2010/main" val="16683384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A87BBAD1-66F3-4BD3-9291-1EDE65704A0D}"/>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When the customer breaks even">
            <a:extLst xmlns:a="http://schemas.openxmlformats.org/drawingml/2006/main">
              <a:ext uri="{FF2B5EF4-FFF2-40B4-BE49-F238E27FC236}">
                <a16:creationId xmlns:a16="http://schemas.microsoft.com/office/drawing/2014/main" id="{2B48E52C-CAF4-4FDB-9635-D4E9C2A5173F}"/>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When the customer breaks even</a:t>
            </a:r>
          </a:p>
        </p:txBody>
      </p:sp>
      <p:sp>
        <p:nvSpPr>
          <p:cNvPr id="3" name="Growth example: four extra completed jobs cov">
            <a:extLst xmlns:a="http://schemas.openxmlformats.org/drawingml/2006/main">
              <a:ext uri="{FF2B5EF4-FFF2-40B4-BE49-F238E27FC236}">
                <a16:creationId xmlns:a16="http://schemas.microsoft.com/office/drawing/2014/main" id="{E5B54460-DADC-4C7A-8429-4902127795C2}"/>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Illustration: $1,000 per installation after variable job costs</a:t>
            </a:r>
          </a:p>
        </p:txBody>
      </p:sp>
      <p:sp>
        <p:nvSpPr>
          <p:cNvPr id="4" name="Assumes $200 contribution per additional job ">
            <a:extLst xmlns:a="http://schemas.openxmlformats.org/drawingml/2006/main">
              <a:ext uri="{FF2B5EF4-FFF2-40B4-BE49-F238E27FC236}">
                <a16:creationId xmlns:a16="http://schemas.microsoft.com/office/drawing/2014/main" id="{F596FA01-0B9D-41DF-A104-7A1E192F6FC1}"/>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AUD ex GST. Contribution is before fixed overheads and tax. Extra usage and calendar-provider fees excluded.</a:t>
            </a:r>
          </a:p>
        </p:txBody>
      </p:sp>
      <p:sp>
        <p:nvSpPr>
          <p:cNvPr id="5" name="09">
            <a:extLst xmlns:a="http://schemas.openxmlformats.org/drawingml/2006/main">
              <a:ext uri="{FF2B5EF4-FFF2-40B4-BE49-F238E27FC236}">
                <a16:creationId xmlns:a16="http://schemas.microsoft.com/office/drawing/2014/main" id="{9F5FB6F9-EC53-4539-AAF7-080D62814CF3}"/>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08</a:t>
            </a:r>
          </a:p>
        </p:txBody>
      </p:sp>
      <p:graphicFrame>
        <p:nvGraphicFramePr>
          <p:cNvPr id="18" name="Table 15"/>
          <p:cNvGraphicFramePr/>
          <p:nvPr/>
        </p:nvGraphicFramePr>
        <p:xfrm>
          <a:off xmlns:a="http://schemas.openxmlformats.org/drawingml/2006/main" x="571500" y="1781175"/>
          <a:ext xmlns:a="http://schemas.openxmlformats.org/drawingml/2006/main" cx="11049000" cy="2571752"/>
        </p:xfrm>
        <a:graphic xmlns:a="http://schemas.openxmlformats.org/drawingml/2006/main">
          <a:graphicData uri="http://schemas.openxmlformats.org/drawingml/2006/table">
            <a:tbl>
              <a:tblPr/>
              <a:tblGrid>
                <a:gridCol w="3762375"/>
                <a:gridCol w="2428875"/>
                <a:gridCol w="2428875"/>
                <a:gridCol w="2428875"/>
              </a:tblGrid>
              <a:tr h="642938">
                <a:tc>
                  <a:txBody>
                    <a:bodyPr/>
                    <a:lstStyle/>
                    <a:p>
                      <a:r>
                        <a:rPr sz="1875" b="1">
                          <a:solidFill>
                            <a:srgbClr val="F6E5A6"/>
                          </a:solidFill>
                          <a:latin typeface="Segoe UI"/>
                          <a:ea typeface="Segoe UI"/>
                          <a:cs typeface="Segoe UI"/>
                        </a:rPr>
                        <a:t>Extra completed installs</a:t>
                      </a:r>
                    </a:p>
                  </a:txBody>
                  <a:tcPr marL="152400" marR="152400" marT="104775" marB="104775" anchor="ctr">
                    <a:solidFill>
                      <a:srgbClr val="142B4B"/>
                    </a:solidFill>
                  </a:tcPr>
                </a:tc>
                <a:tc>
                  <a:txBody>
                    <a:bodyPr/>
                    <a:lstStyle/>
                    <a:p>
                      <a:r>
                        <a:rPr sz="1875" b="1">
                          <a:solidFill>
                            <a:srgbClr val="F6E5A6"/>
                          </a:solidFill>
                          <a:latin typeface="Segoe UI"/>
                          <a:ea typeface="Segoe UI"/>
                          <a:cs typeface="Segoe UI"/>
                        </a:rPr>
                        <a:t>1 install</a:t>
                      </a:r>
                    </a:p>
                  </a:txBody>
                  <a:tcPr marL="152400" marR="152400" marT="104775" marB="104775" anchor="ctr">
                    <a:solidFill>
                      <a:srgbClr val="142B4B"/>
                    </a:solidFill>
                  </a:tcPr>
                </a:tc>
                <a:tc>
                  <a:txBody>
                    <a:bodyPr/>
                    <a:lstStyle/>
                    <a:p>
                      <a:r>
                        <a:rPr sz="1875" b="1">
                          <a:solidFill>
                            <a:srgbClr val="F6E5A6"/>
                          </a:solidFill>
                          <a:latin typeface="Segoe UI"/>
                          <a:ea typeface="Segoe UI"/>
                          <a:cs typeface="Segoe UI"/>
                        </a:rPr>
                        <a:t>2 installs</a:t>
                      </a:r>
                    </a:p>
                  </a:txBody>
                  <a:tcPr marL="152400" marR="152400" marT="104775" marB="104775" anchor="ctr">
                    <a:solidFill>
                      <a:srgbClr val="142B4B"/>
                    </a:solidFill>
                  </a:tcPr>
                </a:tc>
                <a:tc>
                  <a:txBody>
                    <a:bodyPr/>
                    <a:lstStyle/>
                    <a:p>
                      <a:r>
                        <a:rPr sz="1875" b="1">
                          <a:solidFill>
                            <a:srgbClr val="F6E5A6"/>
                          </a:solidFill>
                          <a:latin typeface="Segoe UI"/>
                          <a:ea typeface="Segoe UI"/>
                          <a:cs typeface="Segoe UI"/>
                        </a:rPr>
                        <a:t>3 installs</a:t>
                      </a:r>
                    </a:p>
                  </a:txBody>
                  <a:tcPr marL="152400" marR="152400" marT="104775" marB="104775" anchor="ctr">
                    <a:solidFill>
                      <a:srgbClr val="142B4B"/>
                    </a:solidFill>
                  </a:tcPr>
                </a:tc>
              </a:tr>
              <a:tr h="642938">
                <a:tc>
                  <a:txBody>
                    <a:bodyPr/>
                    <a:lstStyle/>
                    <a:p>
                      <a:r>
                        <a:rPr sz="1875">
                          <a:solidFill>
                            <a:srgbClr val="111111"/>
                          </a:solidFill>
                          <a:latin typeface="Segoe UI"/>
                          <a:ea typeface="Segoe UI"/>
                          <a:cs typeface="Segoe UI"/>
                        </a:rPr>
                        <a:t>Contribution after job costs</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$1,000</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$2,000</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$3,000</a:t>
                      </a:r>
                    </a:p>
                  </a:txBody>
                  <a:tcPr marL="152400" marR="152400" marT="104775" marB="104775" anchor="ctr">
                    <a:solidFill>
                      <a:srgbClr val="FFFFFF"/>
                    </a:solidFill>
                  </a:tcPr>
                </a:tc>
              </a:tr>
              <a:tr h="642938">
                <a:tc>
                  <a:txBody>
                    <a:bodyPr/>
                    <a:lstStyle/>
                    <a:p>
                      <a:r>
                        <a:rPr sz="1875">
                          <a:solidFill>
                            <a:srgbClr val="111111"/>
                          </a:solidFill>
                          <a:latin typeface="Segoe UI"/>
                          <a:ea typeface="Segoe UI"/>
                          <a:cs typeface="Segoe UI"/>
                        </a:rPr>
                        <a:t>Growth subscription</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$799</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$799</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$799</a:t>
                      </a:r>
                    </a:p>
                  </a:txBody>
                  <a:tcPr marL="152400" marR="152400" marT="104775" marB="104775" anchor="ctr">
                    <a:solidFill>
                      <a:srgbClr val="FFFFFF"/>
                    </a:solidFill>
                  </a:tcPr>
                </a:tc>
              </a:tr>
              <a:tr h="642938">
                <a:tc>
                  <a:txBody>
                    <a:bodyPr/>
                    <a:lstStyle/>
                    <a:p>
                      <a:r>
                        <a:rPr sz="1875">
                          <a:solidFill>
                            <a:srgbClr val="111111"/>
                          </a:solidFill>
                          <a:latin typeface="Segoe UI"/>
                          <a:ea typeface="Segoe UI"/>
                          <a:cs typeface="Segoe UI"/>
                        </a:rPr>
                        <a:t>Benefit after Dialex fee</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$201</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$1,201</a:t>
                      </a:r>
                    </a:p>
                  </a:txBody>
                  <a:tcPr marL="152400" marR="152400" marT="104775" marB="104775" anchor="ctr">
                    <a:solidFill>
                      <a:srgbClr val="FFFFFF"/>
                    </a:solidFill>
                  </a:tcPr>
                </a:tc>
                <a:tc>
                  <a:txBody>
                    <a:bodyPr/>
                    <a:lstStyle/>
                    <a:p>
                      <a:r>
                        <a:rPr sz="1875">
                          <a:solidFill>
                            <a:srgbClr val="111111"/>
                          </a:solidFill>
                          <a:latin typeface="Segoe UI"/>
                          <a:ea typeface="Segoe UI"/>
                          <a:cs typeface="Segoe UI"/>
                        </a:rPr>
                        <a:t>$2,201</a:t>
                      </a:r>
                    </a:p>
                  </a:txBody>
                  <a:tcPr marL="152400" marR="152400" marT="104775" marB="104775" anchor="ctr">
                    <a:solidFill>
                      <a:srgbClr val="FFFFFF"/>
                    </a:solidFill>
                  </a:tcPr>
                </a:tc>
              </a:tr>
            </a:tbl>
          </a:graphicData>
        </a:graphic>
      </p:graphicFrame>
      <p:sp>
        <p:nvSpPr>
          <p:cNvPr id="7" name="Monthly break-even">
            <a:extLst xmlns:a="http://schemas.openxmlformats.org/drawingml/2006/main">
              <a:ext uri="{FF2B5EF4-FFF2-40B4-BE49-F238E27FC236}">
                <a16:creationId xmlns:a16="http://schemas.microsoft.com/office/drawing/2014/main" id="{05F5246E-462A-4E52-8DA6-A054FE344A87}"/>
              </a:ext>
            </a:extLst>
          </p:cNvPr>
          <p:cNvSpPr>
            <a:spLocks xmlns:a="http://schemas.openxmlformats.org/drawingml/2006/main" noGrp="1"/>
          </p:cNvSpPr>
          <p:nvPr/>
        </p:nvSpPr>
        <p:spPr>
          <a:xfrm xmlns:a="http://schemas.openxmlformats.org/drawingml/2006/main">
            <a:off x="571500" y="478155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111111"/>
                </a:solidFill>
                <a:latin typeface="Segoe UI"/>
                <a:ea typeface="Segoe UI"/>
                <a:cs typeface="Segoe UI"/>
              </a:defRPr>
            </a:pPr>
            <a:r>
              <a:rPr sz="2100" b="1">
                <a:solidFill>
                  <a:srgbClr val="111111"/>
                </a:solidFill>
                <a:latin typeface="Segoe UI"/>
                <a:ea typeface="Segoe UI"/>
                <a:cs typeface="Segoe UI"/>
              </a:rPr>
              <a:t>Monthly break-even</a:t>
            </a:r>
          </a:p>
        </p:txBody>
      </p:sp>
      <p:sp>
        <p:nvSpPr>
          <p:cNvPr id="8" name="$799 ÷ $200 = 4 completed jobs, rounded up.">
            <a:extLst xmlns:a="http://schemas.openxmlformats.org/drawingml/2006/main">
              <a:ext uri="{FF2B5EF4-FFF2-40B4-BE49-F238E27FC236}">
                <a16:creationId xmlns:a16="http://schemas.microsoft.com/office/drawing/2014/main" id="{1C8F067B-1E2E-4E01-BEDF-4809CFB7B402}"/>
              </a:ext>
            </a:extLst>
          </p:cNvPr>
          <p:cNvSpPr>
            <a:spLocks xmlns:a="http://schemas.openxmlformats.org/drawingml/2006/main" noGrp="1"/>
          </p:cNvSpPr>
          <p:nvPr/>
        </p:nvSpPr>
        <p:spPr>
          <a:xfrm xmlns:a="http://schemas.openxmlformats.org/drawingml/2006/main">
            <a:off x="4476750" y="47815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0">
                <a:solidFill>
                  <a:srgbClr val="111111"/>
                </a:solidFill>
                <a:latin typeface="Segoe UI"/>
                <a:ea typeface="Segoe UI"/>
                <a:cs typeface="Segoe UI"/>
              </a:defRPr>
            </a:pPr>
            <a:r>
              <a:rPr sz="2025" b="0">
                <a:solidFill>
                  <a:srgbClr val="111111"/>
                </a:solidFill>
                <a:latin typeface="Segoe UI"/>
                <a:ea typeface="Segoe UI"/>
                <a:cs typeface="Segoe UI"/>
              </a:rPr>
              <a:t>One extra install covers the $799 monthly fee.</a:t>
            </a:r>
          </a:p>
        </p:txBody>
      </p:sp>
      <p:sp>
        <p:nvSpPr>
          <p:cNvPr id="9" name="Including setup">
            <a:extLst xmlns:a="http://schemas.openxmlformats.org/drawingml/2006/main">
              <a:ext uri="{FF2B5EF4-FFF2-40B4-BE49-F238E27FC236}">
                <a16:creationId xmlns:a16="http://schemas.microsoft.com/office/drawing/2014/main" id="{35AA1757-9DCA-4FE0-9F68-882E4F35CF63}"/>
              </a:ext>
            </a:extLst>
          </p:cNvPr>
          <p:cNvSpPr>
            <a:spLocks xmlns:a="http://schemas.openxmlformats.org/drawingml/2006/main" noGrp="1"/>
          </p:cNvSpPr>
          <p:nvPr/>
        </p:nvSpPr>
        <p:spPr>
          <a:xfrm xmlns:a="http://schemas.openxmlformats.org/drawingml/2006/main">
            <a:off x="571500" y="54483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111111"/>
                </a:solidFill>
                <a:latin typeface="Segoe UI"/>
                <a:ea typeface="Segoe UI"/>
                <a:cs typeface="Segoe UI"/>
              </a:defRPr>
            </a:pPr>
            <a:r>
              <a:rPr sz="2100" b="1">
                <a:solidFill>
                  <a:srgbClr val="111111"/>
                </a:solidFill>
                <a:latin typeface="Segoe UI"/>
                <a:ea typeface="Segoe UI"/>
                <a:cs typeface="Segoe UI"/>
              </a:rPr>
              <a:t>First month with setup</a:t>
            </a:r>
          </a:p>
        </p:txBody>
      </p:sp>
      <p:sp>
        <p:nvSpPr>
          <p:cNvPr id="10" name="8 extra jobs cover the $799 setup and first m">
            <a:extLst xmlns:a="http://schemas.openxmlformats.org/drawingml/2006/main">
              <a:ext uri="{FF2B5EF4-FFF2-40B4-BE49-F238E27FC236}">
                <a16:creationId xmlns:a16="http://schemas.microsoft.com/office/drawing/2014/main" id="{BC08E85E-9838-42D0-85BD-A3D8255DB2FB}"/>
              </a:ext>
            </a:extLst>
          </p:cNvPr>
          <p:cNvSpPr>
            <a:spLocks xmlns:a="http://schemas.openxmlformats.org/drawingml/2006/main" noGrp="1"/>
          </p:cNvSpPr>
          <p:nvPr/>
        </p:nvSpPr>
        <p:spPr>
          <a:xfrm xmlns:a="http://schemas.openxmlformats.org/drawingml/2006/main">
            <a:off x="4476750" y="5400675"/>
            <a:ext cx="714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111111"/>
                </a:solidFill>
                <a:latin typeface="Segoe UI"/>
                <a:ea typeface="Segoe UI"/>
                <a:cs typeface="Segoe UI"/>
              </a:defRPr>
            </a:pPr>
            <a:r>
              <a:rPr sz="1950" b="0">
                <a:solidFill>
                  <a:srgbClr val="111111"/>
                </a:solidFill>
                <a:latin typeface="Segoe UI"/>
                <a:ea typeface="Segoe UI"/>
                <a:cs typeface="Segoe UI"/>
              </a:rPr>
              <a:t>Two extra installs cover $799 + $799 = $1,598.</a:t>
            </a:r>
          </a:p>
        </p:txBody>
      </p:sp>
    </p:spTree>
    <p:extLst>
      <p:ext uri="{BB962C8B-B14F-4D97-AF65-F5344CB8AC3E}">
        <p14:creationId xmlns:p14="http://schemas.microsoft.com/office/powerpoint/2010/main" val="7630743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D7806139-2BF3-4D47-ABE4-6A6AD111BA72}"/>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Our economics per customer">
            <a:extLst xmlns:a="http://schemas.openxmlformats.org/drawingml/2006/main">
              <a:ext uri="{FF2B5EF4-FFF2-40B4-BE49-F238E27FC236}">
                <a16:creationId xmlns:a16="http://schemas.microsoft.com/office/drawing/2014/main" id="{82647CC0-F67C-4D45-BFDA-CFAAA2664E9B}"/>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Our economics per customer</a:t>
            </a:r>
          </a:p>
        </p:txBody>
      </p:sp>
      <p:sp>
        <p:nvSpPr>
          <p:cNvPr id="3" name="Growth account at the full 1,500-minute month">
            <a:extLst xmlns:a="http://schemas.openxmlformats.org/drawingml/2006/main">
              <a:ext uri="{FF2B5EF4-FFF2-40B4-BE49-F238E27FC236}">
                <a16:creationId xmlns:a16="http://schemas.microsoft.com/office/drawing/2014/main" id="{AEF47806-931B-4F92-BB9C-2CFBB7C702A7}"/>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A solar installer on Growth, using the full 1,500-minute allowance</a:t>
            </a:r>
          </a:p>
        </p:txBody>
      </p:sp>
      <p:sp>
        <p:nvSpPr>
          <p:cNvPr id="4" name="Assumed costs, not supplier quotes. Gross pro">
            <a:extLst xmlns:a="http://schemas.openxmlformats.org/drawingml/2006/main">
              <a:ext uri="{FF2B5EF4-FFF2-40B4-BE49-F238E27FC236}">
                <a16:creationId xmlns:a16="http://schemas.microsoft.com/office/drawing/2014/main" id="{8A916579-2758-4277-8D1A-8DAA1E7C4B5F}"/>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Planning costs exclude calendar-provider fees. Gross profit is before fixed overheads, acquisition and tax.</a:t>
            </a:r>
          </a:p>
        </p:txBody>
      </p:sp>
      <p:sp>
        <p:nvSpPr>
          <p:cNvPr id="5" name="10">
            <a:extLst xmlns:a="http://schemas.openxmlformats.org/drawingml/2006/main">
              <a:ext uri="{FF2B5EF4-FFF2-40B4-BE49-F238E27FC236}">
                <a16:creationId xmlns:a16="http://schemas.microsoft.com/office/drawing/2014/main" id="{91A21CE7-3C8F-46A9-A643-16C09B79B1ED}"/>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09</a:t>
            </a:r>
          </a:p>
        </p:txBody>
      </p:sp>
      <p:graphicFrame>
        <p:nvGraphicFramePr>
          <p:cNvPr id="19" name="Table 16"/>
          <p:cNvGraphicFramePr/>
          <p:nvPr/>
        </p:nvGraphicFramePr>
        <p:xfrm>
          <a:off xmlns:a="http://schemas.openxmlformats.org/drawingml/2006/main" x="571500" y="1685925"/>
          <a:ext xmlns:a="http://schemas.openxmlformats.org/drawingml/2006/main" cx="7048500" cy="3752850"/>
        </p:xfrm>
        <a:graphic xmlns:a="http://schemas.openxmlformats.org/drawingml/2006/main">
          <a:graphicData uri="http://schemas.openxmlformats.org/drawingml/2006/table">
            <a:tbl>
              <a:tblPr/>
              <a:tblGrid>
                <a:gridCol w="5095875"/>
                <a:gridCol w="1952625"/>
              </a:tblGrid>
              <a:tr h="625475">
                <a:tc>
                  <a:txBody>
                    <a:bodyPr/>
                    <a:lstStyle/>
                    <a:p>
                      <a:r>
                        <a:rPr sz="1725" b="1">
                          <a:solidFill>
                            <a:srgbClr val="F6E5A6"/>
                          </a:solidFill>
                          <a:latin typeface="Segoe UI"/>
                          <a:ea typeface="Segoe UI"/>
                          <a:cs typeface="Segoe UI"/>
                        </a:rPr>
                        <a:t>Per account / month</a:t>
                      </a:r>
                    </a:p>
                  </a:txBody>
                  <a:tcPr marL="152400" marR="152400" marT="104775" marB="104775" anchor="ctr">
                    <a:solidFill>
                      <a:srgbClr val="142B4B"/>
                    </a:solidFill>
                  </a:tcPr>
                </a:tc>
                <a:tc>
                  <a:txBody>
                    <a:bodyPr/>
                    <a:lstStyle/>
                    <a:p>
                      <a:r>
                        <a:rPr sz="1725" b="1">
                          <a:solidFill>
                            <a:srgbClr val="F6E5A6"/>
                          </a:solidFill>
                          <a:latin typeface="Segoe UI"/>
                          <a:ea typeface="Segoe UI"/>
                          <a:cs typeface="Segoe UI"/>
                        </a:rPr>
                        <a:t>AUD</a:t>
                      </a:r>
                    </a:p>
                  </a:txBody>
                  <a:tcPr marL="152400" marR="152400" marT="104775" marB="104775" anchor="ctr">
                    <a:solidFill>
                      <a:srgbClr val="142B4B"/>
                    </a:solidFill>
                  </a:tcPr>
                </a:tc>
              </a:tr>
              <a:tr h="625475">
                <a:tc>
                  <a:txBody>
                    <a:bodyPr/>
                    <a:lstStyle/>
                    <a:p>
                      <a:r>
                        <a:rPr sz="1725">
                          <a:solidFill>
                            <a:srgbClr val="111111"/>
                          </a:solidFill>
                          <a:latin typeface="Segoe UI"/>
                          <a:ea typeface="Segoe UI"/>
                          <a:cs typeface="Segoe UI"/>
                        </a:rPr>
                        <a:t>Growth subscription</a:t>
                      </a:r>
                    </a:p>
                  </a:txBody>
                  <a:tcPr marL="152400" marR="152400" marT="104775" marB="104775" anchor="ctr">
                    <a:solidFill>
                      <a:srgbClr val="FFFFFF"/>
                    </a:solidFill>
                  </a:tcPr>
                </a:tc>
                <a:tc>
                  <a:txBody>
                    <a:bodyPr/>
                    <a:lstStyle/>
                    <a:p>
                      <a:r>
                        <a:rPr sz="1725">
                          <a:solidFill>
                            <a:srgbClr val="111111"/>
                          </a:solidFill>
                          <a:latin typeface="Segoe UI"/>
                          <a:ea typeface="Segoe UI"/>
                          <a:cs typeface="Segoe UI"/>
                        </a:rPr>
                        <a:t>$799</a:t>
                      </a:r>
                    </a:p>
                  </a:txBody>
                  <a:tcPr marL="152400" marR="152400" marT="104775" marB="104775" anchor="ctr">
                    <a:solidFill>
                      <a:srgbClr val="FFFFFF"/>
                    </a:solidFill>
                  </a:tcPr>
                </a:tc>
              </a:tr>
              <a:tr h="625475">
                <a:tc>
                  <a:txBody>
                    <a:bodyPr/>
                    <a:lstStyle/>
                    <a:p>
                      <a:r>
                        <a:rPr sz="1725">
                          <a:solidFill>
                            <a:srgbClr val="111111"/>
                          </a:solidFill>
                          <a:latin typeface="Segoe UI"/>
                          <a:ea typeface="Segoe UI"/>
                          <a:cs typeface="Segoe UI"/>
                        </a:rPr>
                        <a:t>Voice delivery: 1,500 × $0.20</a:t>
                      </a:r>
                    </a:p>
                  </a:txBody>
                  <a:tcPr marL="152400" marR="152400" marT="104775" marB="104775" anchor="ctr">
                    <a:solidFill>
                      <a:srgbClr val="FFFFFF"/>
                    </a:solidFill>
                  </a:tcPr>
                </a:tc>
                <a:tc>
                  <a:txBody>
                    <a:bodyPr/>
                    <a:lstStyle/>
                    <a:p>
                      <a:r>
                        <a:rPr sz="1725">
                          <a:solidFill>
                            <a:srgbClr val="111111"/>
                          </a:solidFill>
                          <a:latin typeface="Segoe UI"/>
                          <a:ea typeface="Segoe UI"/>
                          <a:cs typeface="Segoe UI"/>
                        </a:rPr>
                        <a:t>$300</a:t>
                      </a:r>
                    </a:p>
                  </a:txBody>
                  <a:tcPr marL="152400" marR="152400" marT="104775" marB="104775" anchor="ctr">
                    <a:solidFill>
                      <a:srgbClr val="FFFFFF"/>
                    </a:solidFill>
                  </a:tcPr>
                </a:tc>
              </a:tr>
              <a:tr h="625475">
                <a:tc>
                  <a:txBody>
                    <a:bodyPr/>
                    <a:lstStyle/>
                    <a:p>
                      <a:r>
                        <a:rPr sz="1725">
                          <a:solidFill>
                            <a:srgbClr val="111111"/>
                          </a:solidFill>
                          <a:latin typeface="Segoe UI"/>
                          <a:ea typeface="Segoe UI"/>
                          <a:cs typeface="Segoe UI"/>
                        </a:rPr>
                        <a:t>Support and account operations</a:t>
                      </a:r>
                    </a:p>
                  </a:txBody>
                  <a:tcPr marL="152400" marR="152400" marT="104775" marB="104775" anchor="ctr">
                    <a:solidFill>
                      <a:srgbClr val="FFFFFF"/>
                    </a:solidFill>
                  </a:tcPr>
                </a:tc>
                <a:tc>
                  <a:txBody>
                    <a:bodyPr/>
                    <a:lstStyle/>
                    <a:p>
                      <a:r>
                        <a:rPr sz="1725">
                          <a:solidFill>
                            <a:srgbClr val="111111"/>
                          </a:solidFill>
                          <a:latin typeface="Segoe UI"/>
                          <a:ea typeface="Segoe UI"/>
                          <a:cs typeface="Segoe UI"/>
                        </a:rPr>
                        <a:t>$100</a:t>
                      </a:r>
                    </a:p>
                  </a:txBody>
                  <a:tcPr marL="152400" marR="152400" marT="104775" marB="104775" anchor="ctr">
                    <a:solidFill>
                      <a:srgbClr val="FFFFFF"/>
                    </a:solidFill>
                  </a:tcPr>
                </a:tc>
              </a:tr>
              <a:tr h="625475">
                <a:tc>
                  <a:txBody>
                    <a:bodyPr/>
                    <a:lstStyle/>
                    <a:p>
                      <a:r>
                        <a:rPr sz="1725">
                          <a:solidFill>
                            <a:srgbClr val="111111"/>
                          </a:solidFill>
                          <a:latin typeface="Segoe UI"/>
                          <a:ea typeface="Segoe UI"/>
                          <a:cs typeface="Segoe UI"/>
                        </a:rPr>
                        <a:t>Total delivery cost</a:t>
                      </a:r>
                    </a:p>
                  </a:txBody>
                  <a:tcPr marL="152400" marR="152400" marT="104775" marB="104775" anchor="ctr">
                    <a:solidFill>
                      <a:srgbClr val="FFFFFF"/>
                    </a:solidFill>
                  </a:tcPr>
                </a:tc>
                <a:tc>
                  <a:txBody>
                    <a:bodyPr/>
                    <a:lstStyle/>
                    <a:p>
                      <a:r>
                        <a:rPr sz="1725">
                          <a:solidFill>
                            <a:srgbClr val="111111"/>
                          </a:solidFill>
                          <a:latin typeface="Segoe UI"/>
                          <a:ea typeface="Segoe UI"/>
                          <a:cs typeface="Segoe UI"/>
                        </a:rPr>
                        <a:t>$400</a:t>
                      </a:r>
                    </a:p>
                  </a:txBody>
                  <a:tcPr marL="152400" marR="152400" marT="104775" marB="104775" anchor="ctr">
                    <a:solidFill>
                      <a:srgbClr val="FFFFFF"/>
                    </a:solidFill>
                  </a:tcPr>
                </a:tc>
              </a:tr>
              <a:tr h="625475">
                <a:tc>
                  <a:txBody>
                    <a:bodyPr/>
                    <a:lstStyle/>
                    <a:p>
                      <a:r>
                        <a:rPr sz="1725">
                          <a:solidFill>
                            <a:srgbClr val="111111"/>
                          </a:solidFill>
                          <a:latin typeface="Segoe UI"/>
                          <a:ea typeface="Segoe UI"/>
                          <a:cs typeface="Segoe UI"/>
                        </a:rPr>
                        <a:t>Gross profit</a:t>
                      </a:r>
                    </a:p>
                  </a:txBody>
                  <a:tcPr marL="152400" marR="152400" marT="104775" marB="104775" anchor="ctr">
                    <a:solidFill>
                      <a:srgbClr val="FFFFFF"/>
                    </a:solidFill>
                  </a:tcPr>
                </a:tc>
                <a:tc>
                  <a:txBody>
                    <a:bodyPr/>
                    <a:lstStyle/>
                    <a:p>
                      <a:r>
                        <a:rPr sz="1725">
                          <a:solidFill>
                            <a:srgbClr val="111111"/>
                          </a:solidFill>
                          <a:latin typeface="Segoe UI"/>
                          <a:ea typeface="Segoe UI"/>
                          <a:cs typeface="Segoe UI"/>
                        </a:rPr>
                        <a:t>$399</a:t>
                      </a:r>
                    </a:p>
                  </a:txBody>
                  <a:tcPr marL="152400" marR="152400" marT="104775" marB="104775" anchor="ctr">
                    <a:solidFill>
                      <a:srgbClr val="FFFFFF"/>
                    </a:solidFill>
                  </a:tcPr>
                </a:tc>
              </a:tr>
            </a:tbl>
          </a:graphicData>
        </a:graphic>
      </p:graphicFrame>
      <p:sp>
        <p:nvSpPr>
          <p:cNvPr id="7" name="49.9%">
            <a:extLst xmlns:a="http://schemas.openxmlformats.org/drawingml/2006/main">
              <a:ext uri="{FF2B5EF4-FFF2-40B4-BE49-F238E27FC236}">
                <a16:creationId xmlns:a16="http://schemas.microsoft.com/office/drawing/2014/main" id="{6676A2B5-8828-4A52-8790-DA0AE5B62C4B}"/>
              </a:ext>
            </a:extLst>
          </p:cNvPr>
          <p:cNvSpPr>
            <a:spLocks xmlns:a="http://schemas.openxmlformats.org/drawingml/2006/main" noGrp="1"/>
          </p:cNvSpPr>
          <p:nvPr/>
        </p:nvSpPr>
        <p:spPr>
          <a:xfrm xmlns:a="http://schemas.openxmlformats.org/drawingml/2006/main">
            <a:off x="8143875" y="1952625"/>
            <a:ext cx="342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4500" b="1">
                <a:solidFill>
                  <a:srgbClr val="111111"/>
                </a:solidFill>
                <a:latin typeface="Segoe UI"/>
                <a:ea typeface="Segoe UI"/>
                <a:cs typeface="Segoe UI"/>
              </a:defRPr>
            </a:pPr>
            <a:r>
              <a:rPr sz="4500" b="1">
                <a:solidFill>
                  <a:srgbClr val="111111"/>
                </a:solidFill>
                <a:latin typeface="Segoe UI"/>
                <a:ea typeface="Segoe UI"/>
                <a:cs typeface="Segoe UI"/>
              </a:rPr>
              <a:t>49.9%</a:t>
            </a:r>
          </a:p>
        </p:txBody>
      </p:sp>
      <p:sp>
        <p:nvSpPr>
          <p:cNvPr id="8" name="Illustrative gross margin">
            <a:extLst xmlns:a="http://schemas.openxmlformats.org/drawingml/2006/main">
              <a:ext uri="{FF2B5EF4-FFF2-40B4-BE49-F238E27FC236}">
                <a16:creationId xmlns:a16="http://schemas.microsoft.com/office/drawing/2014/main" id="{91A78521-EEDA-4980-A1CD-C13E21A0A4C5}"/>
              </a:ext>
            </a:extLst>
          </p:cNvPr>
          <p:cNvSpPr>
            <a:spLocks xmlns:a="http://schemas.openxmlformats.org/drawingml/2006/main" noGrp="1"/>
          </p:cNvSpPr>
          <p:nvPr/>
        </p:nvSpPr>
        <p:spPr>
          <a:xfrm xmlns:a="http://schemas.openxmlformats.org/drawingml/2006/main">
            <a:off x="8143875" y="286702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Illustrative gross margin</a:t>
            </a:r>
          </a:p>
        </p:txBody>
      </p:sp>
      <p:sp>
        <p:nvSpPr>
          <p:cNvPr id="9" name="8 Growth customers">
            <a:extLst xmlns:a="http://schemas.openxmlformats.org/drawingml/2006/main">
              <a:ext uri="{FF2B5EF4-FFF2-40B4-BE49-F238E27FC236}">
                <a16:creationId xmlns:a16="http://schemas.microsoft.com/office/drawing/2014/main" id="{C1463373-C813-4751-9ED2-67C69C9D3265}"/>
              </a:ext>
            </a:extLst>
          </p:cNvPr>
          <p:cNvSpPr>
            <a:spLocks xmlns:a="http://schemas.openxmlformats.org/drawingml/2006/main" noGrp="1"/>
          </p:cNvSpPr>
          <p:nvPr/>
        </p:nvSpPr>
        <p:spPr>
          <a:xfrm xmlns:a="http://schemas.openxmlformats.org/drawingml/2006/main">
            <a:off x="8143875" y="38766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1">
                <a:solidFill>
                  <a:srgbClr val="111111"/>
                </a:solidFill>
                <a:latin typeface="Segoe UI"/>
                <a:ea typeface="Segoe UI"/>
                <a:cs typeface="Segoe UI"/>
              </a:defRPr>
            </a:pPr>
            <a:r>
              <a:rPr sz="2175" b="1">
                <a:solidFill>
                  <a:srgbClr val="111111"/>
                </a:solidFill>
                <a:latin typeface="Segoe UI"/>
                <a:ea typeface="Segoe UI"/>
                <a:cs typeface="Segoe UI"/>
              </a:rPr>
              <a:t>8 Growth customers</a:t>
            </a:r>
          </a:p>
        </p:txBody>
      </p:sp>
      <p:sp>
        <p:nvSpPr>
          <p:cNvPr id="10" name="cover an assumed $3,000&#10;in fixed monthly over">
            <a:extLst xmlns:a="http://schemas.openxmlformats.org/drawingml/2006/main">
              <a:ext uri="{FF2B5EF4-FFF2-40B4-BE49-F238E27FC236}">
                <a16:creationId xmlns:a16="http://schemas.microsoft.com/office/drawing/2014/main" id="{1AB8B3C1-DCFB-40E4-8C28-7CECC31780D5}"/>
              </a:ext>
            </a:extLst>
          </p:cNvPr>
          <p:cNvSpPr>
            <a:spLocks xmlns:a="http://schemas.openxmlformats.org/drawingml/2006/main" noGrp="1"/>
          </p:cNvSpPr>
          <p:nvPr/>
        </p:nvSpPr>
        <p:spPr>
          <a:xfrm xmlns:a="http://schemas.openxmlformats.org/drawingml/2006/main">
            <a:off x="8143875" y="4572000"/>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cover an assumed $3,000</a:t>
            </a:r>
          </a:p>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in fixed monthly overhead.</a:t>
            </a:r>
          </a:p>
        </p:txBody>
      </p:sp>
      <p:sp>
        <p:nvSpPr>
          <p:cNvPr id="11" name="Each additional 1,000 minutes adds $100 gross">
            <a:extLst xmlns:a="http://schemas.openxmlformats.org/drawingml/2006/main">
              <a:ext uri="{FF2B5EF4-FFF2-40B4-BE49-F238E27FC236}">
                <a16:creationId xmlns:a16="http://schemas.microsoft.com/office/drawing/2014/main" id="{810FFACB-5535-48E2-8EB2-D8D5F5499B34}"/>
              </a:ext>
            </a:extLst>
          </p:cNvPr>
          <p:cNvSpPr>
            <a:spLocks xmlns:a="http://schemas.openxmlformats.org/drawingml/2006/main" noGrp="1"/>
          </p:cNvSpPr>
          <p:nvPr/>
        </p:nvSpPr>
        <p:spPr>
          <a:xfrm xmlns:a="http://schemas.openxmlformats.org/drawingml/2006/main">
            <a:off x="571500" y="57626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11111"/>
                </a:solidFill>
                <a:latin typeface="Segoe UI"/>
                <a:ea typeface="Segoe UI"/>
                <a:cs typeface="Segoe UI"/>
              </a:defRPr>
            </a:pPr>
            <a:r>
              <a:rPr sz="1800" b="0">
                <a:solidFill>
                  <a:srgbClr val="111111"/>
                </a:solidFill>
                <a:latin typeface="Segoe UI"/>
                <a:ea typeface="Segoe UI"/>
                <a:cs typeface="Segoe UI"/>
              </a:rPr>
              <a:t>Each additional 1,000 minutes adds $100 gross profit at these rates.</a:t>
            </a:r>
          </a:p>
        </p:txBody>
      </p:sp>
    </p:spTree>
    <p:extLst>
      <p:ext uri="{BB962C8B-B14F-4D97-AF65-F5344CB8AC3E}">
        <p14:creationId xmlns:p14="http://schemas.microsoft.com/office/powerpoint/2010/main" val="4854043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59473DBF-3E6F-42E7-BBEF-1276EFD28CAF}"/>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An early revenue outlook">
            <a:extLst xmlns:a="http://schemas.openxmlformats.org/drawingml/2006/main">
              <a:ext uri="{FF2B5EF4-FFF2-40B4-BE49-F238E27FC236}">
                <a16:creationId xmlns:a16="http://schemas.microsoft.com/office/drawing/2014/main" id="{475A3190-67B6-45D1-8E22-B41E595FAC41}"/>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An early revenue outlook</a:t>
            </a:r>
          </a:p>
        </p:txBody>
      </p:sp>
      <p:sp>
        <p:nvSpPr>
          <p:cNvPr id="3" name="Illustrative first 12 months with all custome">
            <a:extLst xmlns:a="http://schemas.openxmlformats.org/drawingml/2006/main">
              <a:ext uri="{FF2B5EF4-FFF2-40B4-BE49-F238E27FC236}">
                <a16:creationId xmlns:a16="http://schemas.microsoft.com/office/drawing/2014/main" id="{9345C872-112E-4EA0-B45C-98763194AF6F}"/>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Illustrative first 12 months with all solar installer accounts on Growth</a:t>
            </a:r>
          </a:p>
        </p:txBody>
      </p:sp>
      <p:sp>
        <p:nvSpPr>
          <p:cNvPr id="4" name="AUD excluding GST. Full-month billing from si">
            <a:extLst xmlns:a="http://schemas.openxmlformats.org/drawingml/2006/main">
              <a:ext uri="{FF2B5EF4-FFF2-40B4-BE49-F238E27FC236}">
                <a16:creationId xmlns:a16="http://schemas.microsoft.com/office/drawing/2014/main" id="{F01AE10C-F7F6-43D0-98EF-E87974D42AF6}"/>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AUD excluding GST. Full-month billing from signup; no cancellations. Gross profit is before fixed overheads.</a:t>
            </a:r>
          </a:p>
        </p:txBody>
      </p:sp>
      <p:sp>
        <p:nvSpPr>
          <p:cNvPr id="5" name="11">
            <a:extLst xmlns:a="http://schemas.openxmlformats.org/drawingml/2006/main">
              <a:ext uri="{FF2B5EF4-FFF2-40B4-BE49-F238E27FC236}">
                <a16:creationId xmlns:a16="http://schemas.microsoft.com/office/drawing/2014/main" id="{AC366715-E0AF-441C-8798-E8476556D2CB}"/>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10</a:t>
            </a:r>
          </a:p>
        </p:txBody>
      </p:sp>
      <p:graphicFrame>
        <p:nvGraphicFramePr>
          <p:cNvPr id="16" name="Table 13"/>
          <p:cNvGraphicFramePr/>
          <p:nvPr/>
        </p:nvGraphicFramePr>
        <p:xfrm>
          <a:off xmlns:a="http://schemas.openxmlformats.org/drawingml/2006/main" x="571500" y="1771650"/>
          <a:ext xmlns:a="http://schemas.openxmlformats.org/drawingml/2006/main" cx="11049000" cy="3286128"/>
        </p:xfrm>
        <a:graphic xmlns:a="http://schemas.openxmlformats.org/drawingml/2006/main">
          <a:graphicData uri="http://schemas.openxmlformats.org/drawingml/2006/table">
            <a:tbl>
              <a:tblPr/>
              <a:tblGrid>
                <a:gridCol w="4048125"/>
                <a:gridCol w="2333625"/>
                <a:gridCol w="2333625"/>
                <a:gridCol w="2333625"/>
              </a:tblGrid>
              <a:tr h="547688">
                <a:tc>
                  <a:txBody>
                    <a:bodyPr/>
                    <a:lstStyle/>
                    <a:p>
                      <a:r>
                        <a:rPr sz="1800" b="1">
                          <a:solidFill>
                            <a:srgbClr val="F6E5A6"/>
                          </a:solidFill>
                          <a:latin typeface="Segoe UI"/>
                          <a:ea typeface="Segoe UI"/>
                          <a:cs typeface="Segoe UI"/>
                        </a:rPr>
                        <a:t>Scenario</a:t>
                      </a:r>
                    </a:p>
                  </a:txBody>
                  <a:tcPr marL="152400" marR="152400" marT="104775" marB="104775" anchor="ctr">
                    <a:solidFill>
                      <a:srgbClr val="142B4B"/>
                    </a:solidFill>
                  </a:tcPr>
                </a:tc>
                <a:tc>
                  <a:txBody>
                    <a:bodyPr/>
                    <a:lstStyle/>
                    <a:p>
                      <a:r>
                        <a:rPr sz="1800" b="1">
                          <a:solidFill>
                            <a:srgbClr val="F6E5A6"/>
                          </a:solidFill>
                          <a:latin typeface="Segoe UI"/>
                          <a:ea typeface="Segoe UI"/>
                          <a:cs typeface="Segoe UI"/>
                        </a:rPr>
                        <a:t>Cautious</a:t>
                      </a:r>
                    </a:p>
                  </a:txBody>
                  <a:tcPr marL="152400" marR="152400" marT="104775" marB="104775" anchor="ctr">
                    <a:solidFill>
                      <a:srgbClr val="142B4B"/>
                    </a:solidFill>
                  </a:tcPr>
                </a:tc>
                <a:tc>
                  <a:txBody>
                    <a:bodyPr/>
                    <a:lstStyle/>
                    <a:p>
                      <a:r>
                        <a:rPr sz="1800" b="1">
                          <a:solidFill>
                            <a:srgbClr val="F6E5A6"/>
                          </a:solidFill>
                          <a:latin typeface="Segoe UI"/>
                          <a:ea typeface="Segoe UI"/>
                          <a:cs typeface="Segoe UI"/>
                        </a:rPr>
                        <a:t>Base</a:t>
                      </a:r>
                    </a:p>
                  </a:txBody>
                  <a:tcPr marL="152400" marR="152400" marT="104775" marB="104775" anchor="ctr">
                    <a:solidFill>
                      <a:srgbClr val="142B4B"/>
                    </a:solidFill>
                  </a:tcPr>
                </a:tc>
                <a:tc>
                  <a:txBody>
                    <a:bodyPr/>
                    <a:lstStyle/>
                    <a:p>
                      <a:r>
                        <a:rPr sz="1800" b="1">
                          <a:solidFill>
                            <a:srgbClr val="F6E5A6"/>
                          </a:solidFill>
                          <a:latin typeface="Segoe UI"/>
                          <a:ea typeface="Segoe UI"/>
                          <a:cs typeface="Segoe UI"/>
                        </a:rPr>
                        <a:t>Faster</a:t>
                      </a:r>
                    </a:p>
                  </a:txBody>
                  <a:tcPr marL="152400" marR="152400" marT="104775" marB="104775" anchor="ctr">
                    <a:solidFill>
                      <a:srgbClr val="142B4B"/>
                    </a:solidFill>
                  </a:tcPr>
                </a:tc>
              </a:tr>
              <a:tr h="547688">
                <a:tc>
                  <a:txBody>
                    <a:bodyPr/>
                    <a:lstStyle/>
                    <a:p>
                      <a:r>
                        <a:rPr sz="1800">
                          <a:solidFill>
                            <a:srgbClr val="111111"/>
                          </a:solidFill>
                          <a:latin typeface="Segoe UI"/>
                          <a:ea typeface="Segoe UI"/>
                          <a:cs typeface="Segoe UI"/>
                        </a:rPr>
                        <a:t>New customers / month</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1</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2</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4</a:t>
                      </a:r>
                    </a:p>
                  </a:txBody>
                  <a:tcPr marL="152400" marR="152400" marT="104775" marB="104775" anchor="ctr">
                    <a:solidFill>
                      <a:srgbClr val="FFFFFF"/>
                    </a:solidFill>
                  </a:tcPr>
                </a:tc>
              </a:tr>
              <a:tr h="547688">
                <a:tc>
                  <a:txBody>
                    <a:bodyPr/>
                    <a:lstStyle/>
                    <a:p>
                      <a:r>
                        <a:rPr sz="1800">
                          <a:solidFill>
                            <a:srgbClr val="111111"/>
                          </a:solidFill>
                          <a:latin typeface="Segoe UI"/>
                          <a:ea typeface="Segoe UI"/>
                          <a:cs typeface="Segoe UI"/>
                        </a:rPr>
                        <a:t>Customers at month 12</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12</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24</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48</a:t>
                      </a:r>
                    </a:p>
                  </a:txBody>
                  <a:tcPr marL="152400" marR="152400" marT="104775" marB="104775" anchor="ctr">
                    <a:solidFill>
                      <a:srgbClr val="FFFFFF"/>
                    </a:solidFill>
                  </a:tcPr>
                </a:tc>
              </a:tr>
              <a:tr h="547688">
                <a:tc>
                  <a:txBody>
                    <a:bodyPr/>
                    <a:lstStyle/>
                    <a:p>
                      <a:r>
                        <a:rPr sz="1800">
                          <a:solidFill>
                            <a:srgbClr val="111111"/>
                          </a:solidFill>
                          <a:latin typeface="Segoe UI"/>
                          <a:ea typeface="Segoe UI"/>
                          <a:cs typeface="Segoe UI"/>
                        </a:rPr>
                        <a:t>Month-12 recurring</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$9,588</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$19,176</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$38,352</a:t>
                      </a:r>
                    </a:p>
                  </a:txBody>
                  <a:tcPr marL="152400" marR="152400" marT="104775" marB="104775" anchor="ctr">
                    <a:solidFill>
                      <a:srgbClr val="FFFFFF"/>
                    </a:solidFill>
                  </a:tcPr>
                </a:tc>
              </a:tr>
              <a:tr h="547688">
                <a:tc>
                  <a:txBody>
                    <a:bodyPr/>
                    <a:lstStyle/>
                    <a:p>
                      <a:r>
                        <a:rPr sz="1800">
                          <a:solidFill>
                            <a:srgbClr val="111111"/>
                          </a:solidFill>
                          <a:latin typeface="Segoe UI"/>
                          <a:ea typeface="Segoe UI"/>
                          <a:cs typeface="Segoe UI"/>
                        </a:rPr>
                        <a:t>Year-1 total revenue</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$71,910</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$143,820</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$287,680</a:t>
                      </a:r>
                    </a:p>
                  </a:txBody>
                  <a:tcPr marL="152400" marR="152400" marT="104775" marB="104775" anchor="ctr">
                    <a:solidFill>
                      <a:srgbClr val="FFFFFF"/>
                    </a:solidFill>
                  </a:tcPr>
                </a:tc>
              </a:tr>
              <a:tr h="547688">
                <a:tc>
                  <a:txBody>
                    <a:bodyPr/>
                    <a:lstStyle/>
                    <a:p>
                      <a:r>
                        <a:rPr sz="1800">
                          <a:solidFill>
                            <a:srgbClr val="111111"/>
                          </a:solidFill>
                          <a:latin typeface="Segoe UI"/>
                          <a:ea typeface="Segoe UI"/>
                          <a:cs typeface="Segoe UI"/>
                        </a:rPr>
                        <a:t>Year-1 gross profit</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$37,110</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$74,220</a:t>
                      </a:r>
                    </a:p>
                  </a:txBody>
                  <a:tcPr marL="152400" marR="152400" marT="104775" marB="104775" anchor="ctr">
                    <a:solidFill>
                      <a:srgbClr val="FFFFFF"/>
                    </a:solidFill>
                  </a:tcPr>
                </a:tc>
                <a:tc>
                  <a:txBody>
                    <a:bodyPr/>
                    <a:lstStyle/>
                    <a:p>
                      <a:r>
                        <a:rPr sz="1800">
                          <a:solidFill>
                            <a:srgbClr val="111111"/>
                          </a:solidFill>
                          <a:latin typeface="Segoe UI"/>
                          <a:ea typeface="Segoe UI"/>
                          <a:cs typeface="Segoe UI"/>
                        </a:rPr>
                        <a:t>$148,440</a:t>
                      </a:r>
                    </a:p>
                  </a:txBody>
                  <a:tcPr marL="152400" marR="152400" marT="104775" marB="104775" anchor="ctr">
                    <a:solidFill>
                      <a:srgbClr val="FFFFFF"/>
                    </a:solidFill>
                  </a:tcPr>
                </a:tc>
              </a:tr>
            </a:tbl>
          </a:graphicData>
        </a:graphic>
      </p:graphicFrame>
      <p:sp>
        <p:nvSpPr>
          <p:cNvPr id="7" name="Base case">
            <a:extLst xmlns:a="http://schemas.openxmlformats.org/drawingml/2006/main">
              <a:ext uri="{FF2B5EF4-FFF2-40B4-BE49-F238E27FC236}">
                <a16:creationId xmlns:a16="http://schemas.microsoft.com/office/drawing/2014/main" id="{8DFB5F81-1BF7-4CB8-890C-DB05F8A7312C}"/>
              </a:ext>
            </a:extLst>
          </p:cNvPr>
          <p:cNvSpPr>
            <a:spLocks xmlns:a="http://schemas.openxmlformats.org/drawingml/2006/main" noGrp="1"/>
          </p:cNvSpPr>
          <p:nvPr/>
        </p:nvSpPr>
        <p:spPr>
          <a:xfrm xmlns:a="http://schemas.openxmlformats.org/drawingml/2006/main">
            <a:off x="571500" y="5381625"/>
            <a:ext cx="2238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111111"/>
                </a:solidFill>
                <a:latin typeface="Segoe UI"/>
                <a:ea typeface="Segoe UI"/>
                <a:cs typeface="Segoe UI"/>
              </a:defRPr>
            </a:pPr>
            <a:r>
              <a:rPr sz="2100" b="1">
                <a:solidFill>
                  <a:srgbClr val="111111"/>
                </a:solidFill>
                <a:latin typeface="Segoe UI"/>
                <a:ea typeface="Segoe UI"/>
                <a:cs typeface="Segoe UI"/>
              </a:rPr>
              <a:t>Base case</a:t>
            </a:r>
          </a:p>
        </p:txBody>
      </p:sp>
      <p:sp>
        <p:nvSpPr>
          <p:cNvPr id="8" name="$124,644 subscriptions + $19,176 setup = $143">
            <a:extLst xmlns:a="http://schemas.openxmlformats.org/drawingml/2006/main">
              <a:ext uri="{FF2B5EF4-FFF2-40B4-BE49-F238E27FC236}">
                <a16:creationId xmlns:a16="http://schemas.microsoft.com/office/drawing/2014/main" id="{055A7B84-DC17-4655-8AD0-36731668F167}"/>
              </a:ext>
            </a:extLst>
          </p:cNvPr>
          <p:cNvSpPr>
            <a:spLocks xmlns:a="http://schemas.openxmlformats.org/drawingml/2006/main" noGrp="1"/>
          </p:cNvSpPr>
          <p:nvPr/>
        </p:nvSpPr>
        <p:spPr>
          <a:xfrm xmlns:a="http://schemas.openxmlformats.org/drawingml/2006/main">
            <a:off x="2952750" y="5362575"/>
            <a:ext cx="866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111111"/>
                </a:solidFill>
                <a:latin typeface="Segoe UI"/>
                <a:ea typeface="Segoe UI"/>
                <a:cs typeface="Segoe UI"/>
              </a:defRPr>
            </a:pPr>
            <a:r>
              <a:rPr sz="1950" b="0">
                <a:solidFill>
                  <a:srgbClr val="111111"/>
                </a:solidFill>
                <a:latin typeface="Segoe UI"/>
                <a:ea typeface="Segoe UI"/>
                <a:cs typeface="Segoe UI"/>
              </a:rPr>
              <a:t>$124,644 subscriptions + $19,176 setup = $143,820 in year 1.</a:t>
            </a:r>
          </a:p>
        </p:txBody>
      </p:sp>
    </p:spTree>
    <p:extLst>
      <p:ext uri="{BB962C8B-B14F-4D97-AF65-F5344CB8AC3E}">
        <p14:creationId xmlns:p14="http://schemas.microsoft.com/office/powerpoint/2010/main" val="1747114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36B09099-2799-4BDC-9A26-3C3F04D546B4}"/>
              </a:ext>
            </a:extLst>
          </p:cNvPr>
          <p:cNvSpPr>
            <a:spLocks xmlns:a="http://schemas.openxmlformats.org/drawingml/2006/main" noGrp="1"/>
          </p:cNvSpPr>
          <p:nvPr/>
        </p:nvSpPr>
        <p:spPr>
          <a:xfrm xmlns:a="http://schemas.openxmlformats.org/drawingml/2006/main">
            <a:off x="0" y="0"/>
            <a:ext cx="12192000" cy="1295400"/>
          </a:xfrm>
          <a:prstGeom xmlns:a="http://schemas.openxmlformats.org/drawingml/2006/main" prst="rect">
            <a:avLst/>
          </a:prstGeom>
          <a:solidFill xmlns:a="http://schemas.openxmlformats.org/drawingml/2006/main">
            <a:srgbClr val="142B4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he first sales conversation">
            <a:extLst xmlns:a="http://schemas.openxmlformats.org/drawingml/2006/main">
              <a:ext uri="{FF2B5EF4-FFF2-40B4-BE49-F238E27FC236}">
                <a16:creationId xmlns:a16="http://schemas.microsoft.com/office/drawing/2014/main" id="{B6830D91-F461-469C-8C17-C9064EBD15EC}"/>
              </a:ext>
            </a:extLst>
          </p:cNvPr>
          <p:cNvSpPr>
            <a:spLocks xmlns:a="http://schemas.openxmlformats.org/drawingml/2006/main" noGrp="1"/>
          </p:cNvSpPr>
          <p:nvPr/>
        </p:nvSpPr>
        <p:spPr>
          <a:xfrm xmlns:a="http://schemas.openxmlformats.org/drawingml/2006/main">
            <a:off x="571500" y="2476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00" b="1">
                <a:solidFill>
                  <a:srgbClr val="F6E5A6"/>
                </a:solidFill>
                <a:latin typeface="Segoe UI"/>
                <a:ea typeface="Segoe UI"/>
                <a:cs typeface="Segoe UI"/>
              </a:defRPr>
            </a:pPr>
            <a:r>
              <a:rPr sz="3300" b="1">
                <a:solidFill>
                  <a:srgbClr val="F6E5A6"/>
                </a:solidFill>
                <a:latin typeface="Segoe UI"/>
                <a:ea typeface="Segoe UI"/>
                <a:cs typeface="Segoe UI"/>
              </a:rPr>
              <a:t>The first sales conversation</a:t>
            </a:r>
          </a:p>
        </p:txBody>
      </p:sp>
      <p:sp>
        <p:nvSpPr>
          <p:cNvPr id="3" name="A focused pilot gives us evidence before expa">
            <a:extLst xmlns:a="http://schemas.openxmlformats.org/drawingml/2006/main">
              <a:ext uri="{FF2B5EF4-FFF2-40B4-BE49-F238E27FC236}">
                <a16:creationId xmlns:a16="http://schemas.microsoft.com/office/drawing/2014/main" id="{64851872-A78B-42FD-B25F-F355C1ECA66D}"/>
              </a:ext>
            </a:extLst>
          </p:cNvPr>
          <p:cNvSpPr>
            <a:spLocks xmlns:a="http://schemas.openxmlformats.org/drawingml/2006/main" noGrp="1"/>
          </p:cNvSpPr>
          <p:nvPr/>
        </p:nvSpPr>
        <p:spPr>
          <a:xfrm xmlns:a="http://schemas.openxmlformats.org/drawingml/2006/main">
            <a:off x="571500" y="8477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0">
                <a:solidFill>
                  <a:srgbClr val="F6E5A6"/>
                </a:solidFill>
                <a:latin typeface="Segoe UI"/>
                <a:ea typeface="Segoe UI"/>
                <a:cs typeface="Segoe UI"/>
              </a:defRPr>
            </a:pPr>
            <a:r>
              <a:rPr sz="1650" b="0">
                <a:solidFill>
                  <a:srgbClr val="F6E5A6"/>
                </a:solidFill>
                <a:latin typeface="Segoe UI"/>
                <a:ea typeface="Segoe UI"/>
                <a:cs typeface="Segoe UI"/>
              </a:rPr>
              <a:t>A solar pilot tests the sales promise against real outcomes</a:t>
            </a:r>
          </a:p>
        </p:txBody>
      </p:sp>
      <p:sp>
        <p:nvSpPr>
          <p:cNvPr id="4" name="Proposed pilot: one business, one inbound age">
            <a:extLst xmlns:a="http://schemas.openxmlformats.org/drawingml/2006/main">
              <a:ext uri="{FF2B5EF4-FFF2-40B4-BE49-F238E27FC236}">
                <a16:creationId xmlns:a16="http://schemas.microsoft.com/office/drawing/2014/main" id="{65255B27-4854-47DA-9F94-0967321E846C}"/>
              </a:ext>
            </a:extLst>
          </p:cNvPr>
          <p:cNvSpPr>
            <a:spLocks xmlns:a="http://schemas.openxmlformats.org/drawingml/2006/main" noGrp="1"/>
          </p:cNvSpPr>
          <p:nvPr/>
        </p:nvSpPr>
        <p:spPr>
          <a:xfrm xmlns:a="http://schemas.openxmlformats.org/drawingml/2006/main">
            <a:off x="571500" y="6343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Proposed pilot: one solar installer, one inbound agent, 30 days. Use the installer's actual job contribution.</a:t>
            </a:r>
          </a:p>
        </p:txBody>
      </p:sp>
      <p:sp>
        <p:nvSpPr>
          <p:cNvPr id="5" name="12">
            <a:extLst xmlns:a="http://schemas.openxmlformats.org/drawingml/2006/main">
              <a:ext uri="{FF2B5EF4-FFF2-40B4-BE49-F238E27FC236}">
                <a16:creationId xmlns:a16="http://schemas.microsoft.com/office/drawing/2014/main" id="{405B08DB-D01E-4C1A-BDB1-3656021DF50E}"/>
              </a:ext>
            </a:extLst>
          </p:cNvPr>
          <p:cNvSpPr>
            <a:spLocks xmlns:a="http://schemas.openxmlformats.org/drawingml/2006/main" noGrp="1"/>
          </p:cNvSpPr>
          <p:nvPr/>
        </p:nvSpPr>
        <p:spPr>
          <a:xfrm xmlns:a="http://schemas.openxmlformats.org/drawingml/2006/main">
            <a:off x="11096625" y="6362700"/>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125" b="0">
                <a:solidFill>
                  <a:srgbClr val="111111"/>
                </a:solidFill>
                <a:latin typeface="Segoe UI"/>
                <a:ea typeface="Segoe UI"/>
                <a:cs typeface="Segoe UI"/>
              </a:defRPr>
            </a:pPr>
            <a:r>
              <a:rPr sz="1125" b="0">
                <a:solidFill>
                  <a:srgbClr val="111111"/>
                </a:solidFill>
                <a:latin typeface="Segoe UI"/>
                <a:ea typeface="Segoe UI"/>
                <a:cs typeface="Segoe UI"/>
              </a:rPr>
              <a:t>11</a:t>
            </a:r>
          </a:p>
        </p:txBody>
      </p:sp>
      <p:sp>
        <p:nvSpPr>
          <p:cNvPr id="6" name="The pitch">
            <a:extLst xmlns:a="http://schemas.openxmlformats.org/drawingml/2006/main">
              <a:ext uri="{FF2B5EF4-FFF2-40B4-BE49-F238E27FC236}">
                <a16:creationId xmlns:a16="http://schemas.microsoft.com/office/drawing/2014/main" id="{CA4098E0-A1D6-4619-AA3B-FCBD8B7F97A4}"/>
              </a:ext>
            </a:extLst>
          </p:cNvPr>
          <p:cNvSpPr>
            <a:spLocks xmlns:a="http://schemas.openxmlformats.org/drawingml/2006/main" noGrp="1"/>
          </p:cNvSpPr>
          <p:nvPr/>
        </p:nvSpPr>
        <p:spPr>
          <a:xfrm xmlns:a="http://schemas.openxmlformats.org/drawingml/2006/main">
            <a:off x="571500" y="17049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The pitch</a:t>
            </a:r>
          </a:p>
        </p:txBody>
      </p:sp>
      <p:sp>
        <p:nvSpPr>
          <p:cNvPr id="7" name="“When your team can’t answer, capture the enq">
            <a:extLst xmlns:a="http://schemas.openxmlformats.org/drawingml/2006/main">
              <a:ext uri="{FF2B5EF4-FFF2-40B4-BE49-F238E27FC236}">
                <a16:creationId xmlns:a16="http://schemas.microsoft.com/office/drawing/2014/main" id="{94604612-4D5E-4F98-B7D1-5C923A24512A}"/>
              </a:ext>
            </a:extLst>
          </p:cNvPr>
          <p:cNvSpPr>
            <a:spLocks xmlns:a="http://schemas.openxmlformats.org/drawingml/2006/main" noGrp="1"/>
          </p:cNvSpPr>
          <p:nvPr/>
        </p:nvSpPr>
        <p:spPr>
          <a:xfrm xmlns:a="http://schemas.openxmlformats.org/drawingml/2006/main">
            <a:off x="3810000" y="1704975"/>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Capture the solar enquiries you miss while your team is busy, and turn them into the next sales conversation.</a:t>
            </a:r>
          </a:p>
        </p:txBody>
      </p:sp>
      <p:sp>
        <p:nvSpPr>
          <p:cNvPr id="8" name="Rectangle 7">
            <a:extLst xmlns:a="http://schemas.openxmlformats.org/drawingml/2006/main">
              <a:ext uri="{FF2B5EF4-FFF2-40B4-BE49-F238E27FC236}">
                <a16:creationId xmlns:a16="http://schemas.microsoft.com/office/drawing/2014/main" id="{8721CEA1-04C8-4D26-B4E4-26583FE0B5B5}"/>
              </a:ext>
            </a:extLst>
          </p:cNvPr>
          <p:cNvSpPr>
            <a:spLocks xmlns:a="http://schemas.openxmlformats.org/drawingml/2006/main" noGrp="1"/>
          </p:cNvSpPr>
          <p:nvPr/>
        </p:nvSpPr>
        <p:spPr>
          <a:xfrm xmlns:a="http://schemas.openxmlformats.org/drawingml/2006/main">
            <a:off x="571500" y="2619375"/>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Sales and discovery">
            <a:extLst xmlns:a="http://schemas.openxmlformats.org/drawingml/2006/main">
              <a:ext uri="{FF2B5EF4-FFF2-40B4-BE49-F238E27FC236}">
                <a16:creationId xmlns:a16="http://schemas.microsoft.com/office/drawing/2014/main" id="{49200035-B901-411A-AC92-F6322363A83E}"/>
              </a:ext>
            </a:extLst>
          </p:cNvPr>
          <p:cNvSpPr>
            <a:spLocks xmlns:a="http://schemas.openxmlformats.org/drawingml/2006/main" noGrp="1"/>
          </p:cNvSpPr>
          <p:nvPr/>
        </p:nvSpPr>
        <p:spPr>
          <a:xfrm xmlns:a="http://schemas.openxmlformats.org/drawingml/2006/main">
            <a:off x="571500" y="27622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111111"/>
                </a:solidFill>
                <a:latin typeface="Segoe UI"/>
                <a:ea typeface="Segoe UI"/>
                <a:cs typeface="Segoe UI"/>
              </a:defRPr>
            </a:pPr>
            <a:r>
              <a:rPr sz="2025" b="1">
                <a:solidFill>
                  <a:srgbClr val="111111"/>
                </a:solidFill>
                <a:latin typeface="Segoe UI"/>
                <a:ea typeface="Segoe UI"/>
                <a:cs typeface="Segoe UI"/>
              </a:rPr>
              <a:t>Sales and discovery</a:t>
            </a:r>
          </a:p>
        </p:txBody>
      </p:sp>
      <p:sp>
        <p:nvSpPr>
          <p:cNvPr id="10" name="Find suitable businesses, understand their ca">
            <a:extLst xmlns:a="http://schemas.openxmlformats.org/drawingml/2006/main">
              <a:ext uri="{FF2B5EF4-FFF2-40B4-BE49-F238E27FC236}">
                <a16:creationId xmlns:a16="http://schemas.microsoft.com/office/drawing/2014/main" id="{25D09714-EBCB-4003-AD66-63FC61AD626C}"/>
              </a:ext>
            </a:extLst>
          </p:cNvPr>
          <p:cNvSpPr>
            <a:spLocks xmlns:a="http://schemas.openxmlformats.org/drawingml/2006/main" noGrp="1"/>
          </p:cNvSpPr>
          <p:nvPr/>
        </p:nvSpPr>
        <p:spPr>
          <a:xfrm xmlns:a="http://schemas.openxmlformats.org/drawingml/2006/main">
            <a:off x="3810000" y="2762250"/>
            <a:ext cx="781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11111"/>
                </a:solidFill>
                <a:latin typeface="Segoe UI"/>
                <a:ea typeface="Segoe UI"/>
                <a:cs typeface="Segoe UI"/>
              </a:defRPr>
            </a:pPr>
            <a:r>
              <a:rPr sz="1875" b="0">
                <a:solidFill>
                  <a:srgbClr val="111111"/>
                </a:solidFill>
                <a:latin typeface="Segoe UI"/>
                <a:ea typeface="Segoe UI"/>
                <a:cs typeface="Segoe UI"/>
              </a:rPr>
              <a:t>Review missed calls, quote conversion, job contribution and the site-visit calendar. Then demonstrate the workspace.</a:t>
            </a:r>
          </a:p>
        </p:txBody>
      </p:sp>
      <p:sp>
        <p:nvSpPr>
          <p:cNvPr id="11" name="Rectangle 10">
            <a:extLst xmlns:a="http://schemas.openxmlformats.org/drawingml/2006/main">
              <a:ext uri="{FF2B5EF4-FFF2-40B4-BE49-F238E27FC236}">
                <a16:creationId xmlns:a16="http://schemas.microsoft.com/office/drawing/2014/main" id="{D4696891-1FE6-41C3-89B2-195FD6B755D7}"/>
              </a:ext>
            </a:extLst>
          </p:cNvPr>
          <p:cNvSpPr>
            <a:spLocks xmlns:a="http://schemas.openxmlformats.org/drawingml/2006/main" noGrp="1"/>
          </p:cNvSpPr>
          <p:nvPr/>
        </p:nvSpPr>
        <p:spPr>
          <a:xfrm xmlns:a="http://schemas.openxmlformats.org/drawingml/2006/main">
            <a:off x="571500" y="3676650"/>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FBA92361-142B-473E-82B9-EA8830645478}"/>
              </a:ext>
            </a:extLst>
          </p:cNvPr>
          <p:cNvSpPr>
            <a:spLocks xmlns:a="http://schemas.openxmlformats.org/drawingml/2006/main" noGrp="1"/>
          </p:cNvSpPr>
          <p:nvPr/>
        </p:nvSpPr>
        <p:spPr>
          <a:xfrm xmlns:a="http://schemas.openxmlformats.org/drawingml/2006/main">
            <a:off x="571500" y="4733925"/>
            <a:ext cx="11049000" cy="9525"/>
          </a:xfrm>
          <a:prstGeom xmlns:a="http://schemas.openxmlformats.org/drawingml/2006/main" prst="rect">
            <a:avLst/>
          </a:prstGeom>
          <a:solidFill xmlns:a="http://schemas.openxmlformats.org/drawingml/2006/main">
            <a:srgbClr val="D8DEE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9736971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2026-09-08T23:25:55.1590000Z</dcterms:created>
  <dcterms:modified xsi:type="dcterms:W3CDTF">2026-09-08T23:25:55.1590000Z</dcterms:modified>
</coreProperties>
</file>